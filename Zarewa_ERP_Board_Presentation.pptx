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board and senior staff. This presentation explains what the Zarewa ERP is, why it matters for each role in the room, and what it enables for Zarewa's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Vusi Thembekwayo framework. The self-employed person is essential to everything — when they stop, the business stops. The business owner has systems, documentation, and delegation. The question is: which are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two columns. The left column describes what most SMEs in Nigeria look like. The right column is what Zarewa is building toward — and largely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criticisms — they are the natural state of any growing manufacturing business before systems are in place. Every successful company goes through this phase. The question is how long you stay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pivotal moment. Zarewa committed to building an enterprise-grade system. This is not off-the-shelf software modified to fit — it was built from scratch to match Zarewa's actual business rules, products, roles, and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represent the scale of what was built. 124+ database tables means every category of transaction — sales, production, procurement, HR, finance — is tracked with its own structured data. 30,788 words of SOPs means every staff member has written guidance for their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business cycle — quote to cash to production to delivery. Every step has checkpoints in the system. No step can be skipped. Revenue is only recognised when the job is actually complete — not when the invoice is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MD's biggest gain: reclaiming time. When the system holds the rules, the MD doesn't need to be personally involved in every transaction. They see the summary, approve the exceptions, and focus 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Manager becomes a general manager — not just a senior salesperson. They have a real-time view of their branch and defined authority. They can make decisions without calling the MD for every small thing, but the system also ensures they cannot exceed their authority without it being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storekeeper's job becomes cleaner, not harder. Instead of relying on memory or paper notebooks, everything is recorded digitally. When stock is disputed or delivery is questioned, the GRN is the answer. The 4-stage sign-off protects the storekeeper too — once BM and MD approve, the record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staff spend less time chasing production updates and more time selling. They know immediately whether a customer can receive credit, what their history looks like, and when their order enters production. Professional service = more repeat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is the backbone of any business. The ERP gives the finance team confidence — not just speed. When month-end comes, the data is already there. When an auditor asks for a receipt, it is in the system with a timestamp, a user, and a confirmation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is often the most manual and dispute-prone department in manufacturing. Documented processes protect the company legally and protect staff from arbitrary decisions. When a discipline case goes to arbitration, a documented 4-stage trail is the company's strongest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cultural shifts. When disputes arise — and they always do — the question is no longer "who is lying?" It is: "what does the system show?" This removes the drama and protects honest staff while exposing dishonest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Segregation of duties is enforced in the code — not just in policy. The system physically prevents the same person from requesting and approving their own transaction. This is not an honour system. The controls are wired into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has compound interest. The first month of data is useful. The first year is very useful. Year 3 is genuinely powerful — it is a verifiable business history that most Nigerian manufacturing SMEs never have. This is the asset Zarewa is building every single day the system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ERP does not just make internal operations easier. It changes how Zarewa appears to the outside world. Suppliers see a serious, organised customer. Banks see a bankable business. Customers see a responsive, professional company. All of these lead to better terms, more business, and lower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scaling argument. Building a new branch in a self-employed business means training one key person and hoping they run it the way the founder would. In a system-driven business, you create the branch in the ERP, assign the roles, hand them the SOP manual, and the framework is already in place. The MD can manage 6 branches from one screen as easily as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landmark achievement. 30,788 words of documented procedures is not a formality — it is Zarewa's operational DNA written down. New staff can learn from it. Auditors can verify against it. Successors can inherit from it. The business has a memory that is independent of any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question: which level is Zarewa at? The system is built. The SOPs are written. The answer to that question is now entirely in our hands. Full adoption turns the investment into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6217920" y="-1828800"/>
            <a:ext cx="5303520" cy="5303520"/>
          </a:xfrm>
          <a:prstGeom prst="ellipse">
            <a:avLst/>
          </a:prstGeom>
          <a:solidFill>
            <a:srgbClr val="1E4D8C">
              <a:alpha val="35000"/>
            </a:srgbClr>
          </a:solidFill>
          <a:ln w="12700">
            <a:solidFill>
              <a:srgbClr val="333333"/>
            </a:solidFill>
            <a:prstDash val="solid"/>
          </a:ln>
        </p:spPr>
      </p:sp>
      <p:sp>
        <p:nvSpPr>
          <p:cNvPr id="3" name="Shape 1"/>
          <p:cNvSpPr/>
          <p:nvPr/>
        </p:nvSpPr>
        <p:spPr>
          <a:xfrm>
            <a:off x="7132320" y="3200400"/>
            <a:ext cx="2743200" cy="2743200"/>
          </a:xfrm>
          <a:prstGeom prst="ellipse">
            <a:avLst/>
          </a:prstGeom>
          <a:solidFill>
            <a:srgbClr val="C9A227">
              <a:alpha val="18000"/>
            </a:srgbClr>
          </a:solidFill>
          <a:ln w="12700">
            <a:solidFill>
              <a:srgbClr val="333333"/>
            </a:solidFill>
            <a:prstDash val="solid"/>
          </a:ln>
        </p:spPr>
      </p:sp>
      <p:sp>
        <p:nvSpPr>
          <p:cNvPr id="4" name="Text 2"/>
          <p:cNvSpPr/>
          <p:nvPr/>
        </p:nvSpPr>
        <p:spPr>
          <a:xfrm>
            <a:off x="548640" y="411480"/>
            <a:ext cx="8229600" cy="347472"/>
          </a:xfrm>
          <a:prstGeom prst="rect">
            <a:avLst/>
          </a:prstGeom>
          <a:noFill/>
          <a:ln/>
        </p:spPr>
        <p:txBody>
          <a:bodyPr wrap="square" lIns="0" tIns="0" rIns="0" bIns="0" rtlCol="0" anchor="ctr"/>
          <a:lstStyle/>
          <a:p>
            <a:pPr algn="l" indent="0" marL="0">
              <a:buNone/>
            </a:pPr>
            <a:r>
              <a:rPr lang="en-US" sz="1000" b="1" spc="400" kern="0" dirty="0">
                <a:solidFill>
                  <a:srgbClr val="F0C040"/>
                </a:solidFill>
                <a:latin typeface="Calibri" pitchFamily="34" charset="0"/>
                <a:ea typeface="Calibri" pitchFamily="34" charset="-122"/>
                <a:cs typeface="Calibri" pitchFamily="34" charset="-120"/>
              </a:rPr>
              <a:t>ZAREWA ALUMINIUM AND PLASTICS LTD</a:t>
            </a:r>
            <a:endParaRPr lang="en-US" sz="1000" dirty="0"/>
          </a:p>
        </p:txBody>
      </p:sp>
      <p:sp>
        <p:nvSpPr>
          <p:cNvPr id="5" name="Text 3"/>
          <p:cNvSpPr/>
          <p:nvPr/>
        </p:nvSpPr>
        <p:spPr>
          <a:xfrm>
            <a:off x="548640" y="1005840"/>
            <a:ext cx="8046720" cy="2194560"/>
          </a:xfrm>
          <a:prstGeom prst="rect">
            <a:avLst/>
          </a:prstGeom>
          <a:noFill/>
          <a:ln/>
        </p:spPr>
        <p:txBody>
          <a:bodyPr wrap="square" lIns="0" tIns="0" rIns="0" bIns="0"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From Self-Employed</a:t>
            </a:r>
            <a:endParaRPr lang="en-US" sz="4600" dirty="0"/>
          </a:p>
          <a:p>
            <a:pPr algn="l" indent="0" marL="0">
              <a:buNone/>
            </a:pPr>
            <a:r>
              <a:rPr lang="en-US" sz="4600" b="1" dirty="0">
                <a:solidFill>
                  <a:srgbClr val="FFFFFF"/>
                </a:solidFill>
                <a:latin typeface="Cambria" pitchFamily="34" charset="0"/>
                <a:ea typeface="Cambria" pitchFamily="34" charset="-122"/>
                <a:cs typeface="Cambria" pitchFamily="34" charset="-120"/>
              </a:rPr>
              <a:t>to Business Owner</a:t>
            </a:r>
            <a:endParaRPr lang="en-US" sz="4600" dirty="0"/>
          </a:p>
        </p:txBody>
      </p:sp>
      <p:sp>
        <p:nvSpPr>
          <p:cNvPr id="6" name="Text 4"/>
          <p:cNvSpPr/>
          <p:nvPr/>
        </p:nvSpPr>
        <p:spPr>
          <a:xfrm>
            <a:off x="548640" y="3429000"/>
            <a:ext cx="7315200" cy="594360"/>
          </a:xfrm>
          <a:prstGeom prst="rect">
            <a:avLst/>
          </a:prstGeom>
          <a:noFill/>
          <a:ln/>
        </p:spPr>
        <p:txBody>
          <a:bodyPr wrap="square" lIns="0" tIns="0" rIns="0" bIns="0" rtlCol="0" anchor="ctr"/>
          <a:lstStyle/>
          <a:p>
            <a:pPr algn="l" indent="0" marL="0">
              <a:buNone/>
            </a:pPr>
            <a:r>
              <a:rPr lang="en-US" sz="1500" dirty="0">
                <a:solidFill>
                  <a:srgbClr val="B8CCE8"/>
                </a:solidFill>
                <a:latin typeface="Calibri" pitchFamily="34" charset="0"/>
                <a:ea typeface="Calibri" pitchFamily="34" charset="-122"/>
                <a:cs typeface="Calibri" pitchFamily="34" charset="-120"/>
              </a:rPr>
              <a:t>The Zarewa ERP System — What We Built, Why It Matters, What Comes Next</a:t>
            </a:r>
            <a:endParaRPr lang="en-US" sz="1500" dirty="0"/>
          </a:p>
        </p:txBody>
      </p:sp>
      <p:sp>
        <p:nvSpPr>
          <p:cNvPr id="7" name="Text 5"/>
          <p:cNvSpPr/>
          <p:nvPr/>
        </p:nvSpPr>
        <p:spPr>
          <a:xfrm>
            <a:off x="548640" y="4498848"/>
            <a:ext cx="7315200" cy="320040"/>
          </a:xfrm>
          <a:prstGeom prst="rect">
            <a:avLst/>
          </a:prstGeom>
          <a:noFill/>
          <a:ln/>
        </p:spPr>
        <p:txBody>
          <a:bodyPr wrap="square" lIns="0" tIns="0" rIns="0" bIns="0" rtlCol="0" anchor="ctr"/>
          <a:lstStyle/>
          <a:p>
            <a:pPr algn="l" indent="0" marL="0">
              <a:buNone/>
            </a:pPr>
            <a:r>
              <a:rPr lang="en-US" sz="1200" dirty="0">
                <a:solidFill>
                  <a:srgbClr val="F0C040"/>
                </a:solidFill>
                <a:latin typeface="Calibri" pitchFamily="34" charset="0"/>
                <a:ea typeface="Calibri" pitchFamily="34" charset="-122"/>
                <a:cs typeface="Calibri" pitchFamily="34" charset="-120"/>
              </a:rPr>
              <a:t>June 2026  ·  Kaduna  ·  Yola  ·  Maiduguri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1371600" y="3200400"/>
            <a:ext cx="4114800" cy="4114800"/>
          </a:xfrm>
          <a:prstGeom prst="ellipse">
            <a:avLst/>
          </a:prstGeom>
          <a:solidFill>
            <a:srgbClr val="1E4D8C">
              <a:alpha val="30000"/>
            </a:srgbClr>
          </a:solidFill>
          <a:ln w="12700">
            <a:solidFill>
              <a:srgbClr val="333333"/>
            </a:solidFill>
            <a:prstDash val="solid"/>
          </a:ln>
        </p:spPr>
      </p:sp>
      <p:sp>
        <p:nvSpPr>
          <p:cNvPr id="3" name="Text 1"/>
          <p:cNvSpPr/>
          <p:nvPr/>
        </p:nvSpPr>
        <p:spPr>
          <a:xfrm>
            <a:off x="640080" y="502920"/>
            <a:ext cx="7863840" cy="347472"/>
          </a:xfrm>
          <a:prstGeom prst="rect">
            <a:avLst/>
          </a:prstGeom>
          <a:noFill/>
          <a:ln/>
        </p:spPr>
        <p:txBody>
          <a:bodyPr wrap="square" lIns="0" tIns="0" rIns="0" bIns="0" rtlCol="0" anchor="ctr"/>
          <a:lstStyle/>
          <a:p>
            <a:pPr algn="l" indent="0" marL="0">
              <a:buNone/>
            </a:pPr>
            <a:r>
              <a:rPr lang="en-US" sz="1100" b="1" spc="300" kern="0" dirty="0">
                <a:solidFill>
                  <a:srgbClr val="F0C040"/>
                </a:solidFill>
                <a:latin typeface="Calibri" pitchFamily="34" charset="0"/>
                <a:ea typeface="Calibri" pitchFamily="34" charset="-122"/>
                <a:cs typeface="Calibri" pitchFamily="34" charset="-120"/>
              </a:rPr>
              <a:t>THE QUESTION EVERY BUSINESS OWNER MUST ANSWER</a:t>
            </a:r>
            <a:endParaRPr lang="en-US" sz="1100" dirty="0"/>
          </a:p>
        </p:txBody>
      </p:sp>
      <p:sp>
        <p:nvSpPr>
          <p:cNvPr id="4" name="Text 2"/>
          <p:cNvSpPr/>
          <p:nvPr/>
        </p:nvSpPr>
        <p:spPr>
          <a:xfrm>
            <a:off x="640080" y="1143000"/>
            <a:ext cx="7863840" cy="2560320"/>
          </a:xfrm>
          <a:prstGeom prst="rect">
            <a:avLst/>
          </a:prstGeom>
          <a:noFill/>
          <a:ln/>
        </p:spPr>
        <p:txBody>
          <a:bodyPr wrap="square" lIns="0" tIns="0" rIns="0" bIns="0" rtlCol="0" anchor="ctr"/>
          <a:lstStyle/>
          <a:p>
            <a:pPr algn="l" indent="0" marL="0">
              <a:buNone/>
            </a:pPr>
            <a:r>
              <a:rPr lang="en-US" sz="3000" i="1" dirty="0">
                <a:solidFill>
                  <a:srgbClr val="FFFFFF"/>
                </a:solidFill>
                <a:latin typeface="Cambria" pitchFamily="34" charset="0"/>
                <a:ea typeface="Cambria" pitchFamily="34" charset="-122"/>
                <a:cs typeface="Cambria" pitchFamily="34" charset="-120"/>
              </a:rPr>
              <a:t>"A self-employed person has bought themselves a job.</a:t>
            </a:r>
            <a:endParaRPr lang="en-US" sz="3000" dirty="0"/>
          </a:p>
          <a:p>
            <a:pPr algn="l" indent="0" marL="0">
              <a:buNone/>
            </a:pPr>
            <a:r>
              <a:rPr lang="en-US" sz="3000" i="1" dirty="0">
                <a:solidFill>
                  <a:srgbClr val="FFFFFF"/>
                </a:solidFill>
                <a:latin typeface="Cambria" pitchFamily="34" charset="0"/>
                <a:ea typeface="Cambria" pitchFamily="34" charset="-122"/>
                <a:cs typeface="Cambria" pitchFamily="34" charset="-120"/>
              </a:rPr>
              <a:t>A business owner has built a system</a:t>
            </a:r>
            <a:endParaRPr lang="en-US" sz="3000" dirty="0"/>
          </a:p>
          <a:p>
            <a:pPr algn="l" indent="0" marL="0">
              <a:buNone/>
            </a:pPr>
            <a:r>
              <a:rPr lang="en-US" sz="3000" i="1" dirty="0">
                <a:solidFill>
                  <a:srgbClr val="FFFFFF"/>
                </a:solidFill>
                <a:latin typeface="Cambria" pitchFamily="34" charset="0"/>
                <a:ea typeface="Cambria" pitchFamily="34" charset="-122"/>
                <a:cs typeface="Cambria" pitchFamily="34" charset="-120"/>
              </a:rPr>
              <a:t>that works without them."</a:t>
            </a:r>
            <a:endParaRPr lang="en-US" sz="3000" dirty="0"/>
          </a:p>
        </p:txBody>
      </p:sp>
      <p:sp>
        <p:nvSpPr>
          <p:cNvPr id="5" name="Text 3"/>
          <p:cNvSpPr/>
          <p:nvPr/>
        </p:nvSpPr>
        <p:spPr>
          <a:xfrm>
            <a:off x="640080" y="3886200"/>
            <a:ext cx="7315200" cy="365760"/>
          </a:xfrm>
          <a:prstGeom prst="rect">
            <a:avLst/>
          </a:prstGeom>
          <a:noFill/>
          <a:ln/>
        </p:spPr>
        <p:txBody>
          <a:bodyPr wrap="square" lIns="0" tIns="0" rIns="0" bIns="0" rtlCol="0" anchor="ctr"/>
          <a:lstStyle/>
          <a:p>
            <a:pPr algn="l" indent="0" marL="0">
              <a:buNone/>
            </a:pPr>
            <a:r>
              <a:rPr lang="en-US" sz="1400" dirty="0">
                <a:solidFill>
                  <a:srgbClr val="8DA4C0"/>
                </a:solidFill>
                <a:latin typeface="Calibri" pitchFamily="34" charset="0"/>
                <a:ea typeface="Calibri" pitchFamily="34" charset="-122"/>
                <a:cs typeface="Calibri" pitchFamily="34" charset="-120"/>
              </a:rPr>
              <a:t>— Inspired by Vusi Thembekwayo</a:t>
            </a:r>
            <a:endParaRPr lang="en-US" sz="1400" dirty="0"/>
          </a:p>
        </p:txBody>
      </p:sp>
      <p:sp>
        <p:nvSpPr>
          <p:cNvPr id="6" name="Text 4"/>
          <p:cNvSpPr/>
          <p:nvPr/>
        </p:nvSpPr>
        <p:spPr>
          <a:xfrm>
            <a:off x="640080" y="4434840"/>
            <a:ext cx="7315200" cy="347472"/>
          </a:xfrm>
          <a:prstGeom prst="rect">
            <a:avLst/>
          </a:prstGeom>
          <a:noFill/>
          <a:ln/>
        </p:spPr>
        <p:txBody>
          <a:bodyPr wrap="square" lIns="0" tIns="0" rIns="0" bIns="0" rtlCol="0" anchor="ctr"/>
          <a:lstStyle/>
          <a:p>
            <a:pPr algn="l" indent="0" marL="0">
              <a:buNone/>
            </a:pPr>
            <a:r>
              <a:rPr lang="en-US" sz="1400" b="1" dirty="0">
                <a:solidFill>
                  <a:srgbClr val="F0C040"/>
                </a:solidFill>
                <a:latin typeface="Calibri" pitchFamily="34" charset="0"/>
                <a:ea typeface="Calibri" pitchFamily="34" charset="-122"/>
                <a:cs typeface="Calibri" pitchFamily="34" charset="-120"/>
              </a:rPr>
              <a:t>Which level is Zarewa operating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algn="l" indent="0" marL="0">
              <a:buNone/>
            </a:pPr>
            <a:r>
              <a:rPr lang="en-US" sz="1000" b="1" spc="300" kern="0" dirty="0">
                <a:solidFill>
                  <a:srgbClr val="64748B"/>
                </a:solidFill>
                <a:latin typeface="Calibri" pitchFamily="34" charset="0"/>
                <a:ea typeface="Calibri" pitchFamily="34" charset="-122"/>
                <a:cs typeface="Calibri" pitchFamily="34" charset="-120"/>
              </a:rPr>
              <a:t>THE TWO LEVELS OF ENTREPRENEURSHIP</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Where does your business sit?</a:t>
            </a:r>
            <a:endParaRPr lang="en-US" sz="2600" dirty="0"/>
          </a:p>
        </p:txBody>
      </p:sp>
      <p:sp>
        <p:nvSpPr>
          <p:cNvPr id="4" name="Shape 2"/>
          <p:cNvSpPr/>
          <p:nvPr/>
        </p:nvSpPr>
        <p:spPr>
          <a:xfrm>
            <a:off x="365760" y="1207008"/>
            <a:ext cx="3977640" cy="3566160"/>
          </a:xfrm>
          <a:prstGeom prst="roundRect">
            <a:avLst>
              <a:gd name="adj" fmla="val 2051"/>
            </a:avLst>
          </a:prstGeom>
          <a:solidFill>
            <a:srgbClr val="F0F0F5"/>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25880"/>
            <a:ext cx="3657600" cy="347472"/>
          </a:xfrm>
          <a:prstGeom prst="rect">
            <a:avLst/>
          </a:prstGeom>
          <a:noFill/>
          <a:ln/>
        </p:spPr>
        <p:txBody>
          <a:bodyPr wrap="square" lIns="0" tIns="0" rIns="0" bIns="0" rtlCol="0" anchor="ctr"/>
          <a:lstStyle/>
          <a:p>
            <a:pPr algn="ctr" indent="0" marL="0">
              <a:buNone/>
            </a:pPr>
            <a:r>
              <a:rPr lang="en-US" sz="1300" b="1" spc="200" kern="0" dirty="0">
                <a:solidFill>
                  <a:srgbClr val="8B0000"/>
                </a:solidFill>
                <a:latin typeface="Calibri" pitchFamily="34" charset="0"/>
                <a:ea typeface="Calibri" pitchFamily="34" charset="-122"/>
                <a:cs typeface="Calibri" pitchFamily="34" charset="-120"/>
              </a:rPr>
              <a:t>SELF-EMPLOYED</a:t>
            </a:r>
            <a:endParaRPr lang="en-US" sz="1300" dirty="0"/>
          </a:p>
        </p:txBody>
      </p:sp>
      <p:sp>
        <p:nvSpPr>
          <p:cNvPr id="6" name="Text 4"/>
          <p:cNvSpPr/>
          <p:nvPr/>
        </p:nvSpPr>
        <p:spPr>
          <a:xfrm>
            <a:off x="548640" y="1874520"/>
            <a:ext cx="3657600" cy="384048"/>
          </a:xfrm>
          <a:prstGeom prst="rect">
            <a:avLst/>
          </a:prstGeom>
          <a:noFill/>
          <a:ln/>
        </p:spPr>
        <p:txBody>
          <a:bodyPr wrap="square" lIns="0" tIns="0" rIns="0" bIns="0" rtlCol="0" anchor="ctr"/>
          <a:lstStyle/>
          <a:p>
            <a:pPr algn="l" indent="0" marL="0">
              <a:buNone/>
            </a:pPr>
            <a:r>
              <a:rPr lang="en-US" sz="1300" dirty="0">
                <a:solidFill>
                  <a:srgbClr val="5A3A3A"/>
                </a:solidFill>
                <a:latin typeface="Calibri" pitchFamily="34" charset="0"/>
                <a:ea typeface="Calibri" pitchFamily="34" charset="-122"/>
                <a:cs typeface="Calibri" pitchFamily="34" charset="-120"/>
              </a:rPr>
              <a:t>✕  MD answers 20+ calls a day</a:t>
            </a:r>
            <a:endParaRPr lang="en-US" sz="1300" dirty="0"/>
          </a:p>
        </p:txBody>
      </p:sp>
      <p:sp>
        <p:nvSpPr>
          <p:cNvPr id="7" name="Text 5"/>
          <p:cNvSpPr/>
          <p:nvPr/>
        </p:nvSpPr>
        <p:spPr>
          <a:xfrm>
            <a:off x="548640" y="2350008"/>
            <a:ext cx="3657600" cy="384048"/>
          </a:xfrm>
          <a:prstGeom prst="rect">
            <a:avLst/>
          </a:prstGeom>
          <a:noFill/>
          <a:ln/>
        </p:spPr>
        <p:txBody>
          <a:bodyPr wrap="square" lIns="0" tIns="0" rIns="0" bIns="0" rtlCol="0" anchor="ctr"/>
          <a:lstStyle/>
          <a:p>
            <a:pPr algn="l" indent="0" marL="0">
              <a:buNone/>
            </a:pPr>
            <a:r>
              <a:rPr lang="en-US" sz="1300" dirty="0">
                <a:solidFill>
                  <a:srgbClr val="5A3A3A"/>
                </a:solidFill>
                <a:latin typeface="Calibri" pitchFamily="34" charset="0"/>
                <a:ea typeface="Calibri" pitchFamily="34" charset="-122"/>
                <a:cs typeface="Calibri" pitchFamily="34" charset="-120"/>
              </a:rPr>
              <a:t>✕  Stock counted from memory</a:t>
            </a:r>
            <a:endParaRPr lang="en-US" sz="1300" dirty="0"/>
          </a:p>
        </p:txBody>
      </p:sp>
      <p:sp>
        <p:nvSpPr>
          <p:cNvPr id="8" name="Text 6"/>
          <p:cNvSpPr/>
          <p:nvPr/>
        </p:nvSpPr>
        <p:spPr>
          <a:xfrm>
            <a:off x="548640" y="2825496"/>
            <a:ext cx="3657600" cy="384048"/>
          </a:xfrm>
          <a:prstGeom prst="rect">
            <a:avLst/>
          </a:prstGeom>
          <a:noFill/>
          <a:ln/>
        </p:spPr>
        <p:txBody>
          <a:bodyPr wrap="square" lIns="0" tIns="0" rIns="0" bIns="0" rtlCol="0" anchor="ctr"/>
          <a:lstStyle/>
          <a:p>
            <a:pPr algn="l" indent="0" marL="0">
              <a:buNone/>
            </a:pPr>
            <a:r>
              <a:rPr lang="en-US" sz="1300" dirty="0">
                <a:solidFill>
                  <a:srgbClr val="5A3A3A"/>
                </a:solidFill>
                <a:latin typeface="Calibri" pitchFamily="34" charset="0"/>
                <a:ea typeface="Calibri" pitchFamily="34" charset="-122"/>
                <a:cs typeface="Calibri" pitchFamily="34" charset="-120"/>
              </a:rPr>
              <a:t>✕  Payroll prepared manually each month</a:t>
            </a:r>
            <a:endParaRPr lang="en-US" sz="1300" dirty="0"/>
          </a:p>
        </p:txBody>
      </p:sp>
      <p:sp>
        <p:nvSpPr>
          <p:cNvPr id="9" name="Text 7"/>
          <p:cNvSpPr/>
          <p:nvPr/>
        </p:nvSpPr>
        <p:spPr>
          <a:xfrm>
            <a:off x="548640" y="3300984"/>
            <a:ext cx="3657600" cy="384048"/>
          </a:xfrm>
          <a:prstGeom prst="rect">
            <a:avLst/>
          </a:prstGeom>
          <a:noFill/>
          <a:ln/>
        </p:spPr>
        <p:txBody>
          <a:bodyPr wrap="square" lIns="0" tIns="0" rIns="0" bIns="0" rtlCol="0" anchor="ctr"/>
          <a:lstStyle/>
          <a:p>
            <a:pPr algn="l" indent="0" marL="0">
              <a:buNone/>
            </a:pPr>
            <a:r>
              <a:rPr lang="en-US" sz="1300" dirty="0">
                <a:solidFill>
                  <a:srgbClr val="5A3A3A"/>
                </a:solidFill>
                <a:latin typeface="Calibri" pitchFamily="34" charset="0"/>
                <a:ea typeface="Calibri" pitchFamily="34" charset="-122"/>
                <a:cs typeface="Calibri" pitchFamily="34" charset="-120"/>
              </a:rPr>
              <a:t>✕  No cross-branch visibility</a:t>
            </a:r>
            <a:endParaRPr lang="en-US" sz="1300" dirty="0"/>
          </a:p>
        </p:txBody>
      </p:sp>
      <p:sp>
        <p:nvSpPr>
          <p:cNvPr id="10" name="Text 8"/>
          <p:cNvSpPr/>
          <p:nvPr/>
        </p:nvSpPr>
        <p:spPr>
          <a:xfrm>
            <a:off x="548640" y="3776472"/>
            <a:ext cx="3657600" cy="384048"/>
          </a:xfrm>
          <a:prstGeom prst="rect">
            <a:avLst/>
          </a:prstGeom>
          <a:noFill/>
          <a:ln/>
        </p:spPr>
        <p:txBody>
          <a:bodyPr wrap="square" lIns="0" tIns="0" rIns="0" bIns="0" rtlCol="0" anchor="ctr"/>
          <a:lstStyle/>
          <a:p>
            <a:pPr algn="l" indent="0" marL="0">
              <a:buNone/>
            </a:pPr>
            <a:r>
              <a:rPr lang="en-US" sz="1300" dirty="0">
                <a:solidFill>
                  <a:srgbClr val="5A3A3A"/>
                </a:solidFill>
                <a:latin typeface="Calibri" pitchFamily="34" charset="0"/>
                <a:ea typeface="Calibri" pitchFamily="34" charset="-122"/>
                <a:cs typeface="Calibri" pitchFamily="34" charset="-120"/>
              </a:rPr>
              <a:t>✕  Business stops when MD is unavailable</a:t>
            </a:r>
            <a:endParaRPr lang="en-US" sz="1300" dirty="0"/>
          </a:p>
        </p:txBody>
      </p:sp>
      <p:sp>
        <p:nvSpPr>
          <p:cNvPr id="11" name="Shape 9"/>
          <p:cNvSpPr/>
          <p:nvPr/>
        </p:nvSpPr>
        <p:spPr>
          <a:xfrm>
            <a:off x="4800600" y="1207008"/>
            <a:ext cx="3977640" cy="3566160"/>
          </a:xfrm>
          <a:prstGeom prst="roundRect">
            <a:avLst>
              <a:gd name="adj" fmla="val 2051"/>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937760" y="1325880"/>
            <a:ext cx="3657600" cy="347472"/>
          </a:xfrm>
          <a:prstGeom prst="rect">
            <a:avLst/>
          </a:prstGeom>
          <a:noFill/>
          <a:ln/>
        </p:spPr>
        <p:txBody>
          <a:bodyPr wrap="square" lIns="0" tIns="0" rIns="0" bIns="0" rtlCol="0" anchor="ctr"/>
          <a:lstStyle/>
          <a:p>
            <a:pPr algn="ctr" indent="0" marL="0">
              <a:buNone/>
            </a:pPr>
            <a:r>
              <a:rPr lang="en-US" sz="1300" b="1" spc="200" kern="0" dirty="0">
                <a:solidFill>
                  <a:srgbClr val="F0C040"/>
                </a:solidFill>
                <a:latin typeface="Calibri" pitchFamily="34" charset="0"/>
                <a:ea typeface="Calibri" pitchFamily="34" charset="-122"/>
                <a:cs typeface="Calibri" pitchFamily="34" charset="-120"/>
              </a:rPr>
              <a:t>BUSINESS OWNER</a:t>
            </a:r>
            <a:endParaRPr lang="en-US" sz="1300" dirty="0"/>
          </a:p>
        </p:txBody>
      </p:sp>
      <p:sp>
        <p:nvSpPr>
          <p:cNvPr id="13" name="Text 11"/>
          <p:cNvSpPr/>
          <p:nvPr/>
        </p:nvSpPr>
        <p:spPr>
          <a:xfrm>
            <a:off x="4937760" y="1874520"/>
            <a:ext cx="36576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Dashboard shows branch status at a glance</a:t>
            </a:r>
            <a:endParaRPr lang="en-US" sz="1300" dirty="0"/>
          </a:p>
        </p:txBody>
      </p:sp>
      <p:sp>
        <p:nvSpPr>
          <p:cNvPr id="14" name="Text 12"/>
          <p:cNvSpPr/>
          <p:nvPr/>
        </p:nvSpPr>
        <p:spPr>
          <a:xfrm>
            <a:off x="4937760" y="2350008"/>
            <a:ext cx="36576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Every stock movement is recorded</a:t>
            </a:r>
            <a:endParaRPr lang="en-US" sz="1300" dirty="0"/>
          </a:p>
        </p:txBody>
      </p:sp>
      <p:sp>
        <p:nvSpPr>
          <p:cNvPr id="15" name="Text 13"/>
          <p:cNvSpPr/>
          <p:nvPr/>
        </p:nvSpPr>
        <p:spPr>
          <a:xfrm>
            <a:off x="4937760" y="2825496"/>
            <a:ext cx="36576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Payroll flows through a 4-step approval chain</a:t>
            </a:r>
            <a:endParaRPr lang="en-US" sz="1300" dirty="0"/>
          </a:p>
        </p:txBody>
      </p:sp>
      <p:sp>
        <p:nvSpPr>
          <p:cNvPr id="16" name="Text 14"/>
          <p:cNvSpPr/>
          <p:nvPr/>
        </p:nvSpPr>
        <p:spPr>
          <a:xfrm>
            <a:off x="4937760" y="3300984"/>
            <a:ext cx="36576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Real-time visibility across all 3 branches</a:t>
            </a:r>
            <a:endParaRPr lang="en-US" sz="1300" dirty="0"/>
          </a:p>
        </p:txBody>
      </p:sp>
      <p:sp>
        <p:nvSpPr>
          <p:cNvPr id="17" name="Text 15"/>
          <p:cNvSpPr/>
          <p:nvPr/>
        </p:nvSpPr>
        <p:spPr>
          <a:xfrm>
            <a:off x="4937760" y="3776472"/>
            <a:ext cx="36576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System runs — with or without the MD present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STARTING POINT</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The patterns of a self-employed business — and how they held us back</a:t>
            </a:r>
            <a:endParaRPr lang="en-US" sz="2200" dirty="0"/>
          </a:p>
        </p:txBody>
      </p:sp>
      <p:sp>
        <p:nvSpPr>
          <p:cNvPr id="4" name="Shape 2"/>
          <p:cNvSpPr/>
          <p:nvPr/>
        </p:nvSpPr>
        <p:spPr>
          <a:xfrm>
            <a:off x="365760" y="1234440"/>
            <a:ext cx="3977640" cy="1600200"/>
          </a:xfrm>
          <a:prstGeom prst="roundRect">
            <a:avLst>
              <a:gd name="adj" fmla="val 457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30352" y="1362456"/>
            <a:ext cx="356616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MD as Bottleneck</a:t>
            </a:r>
            <a:endParaRPr lang="en-US" sz="1400" dirty="0"/>
          </a:p>
        </p:txBody>
      </p:sp>
      <p:sp>
        <p:nvSpPr>
          <p:cNvPr id="6" name="Text 4"/>
          <p:cNvSpPr/>
          <p:nvPr/>
        </p:nvSpPr>
        <p:spPr>
          <a:xfrm>
            <a:off x="530352" y="1783080"/>
            <a:ext cx="3566160" cy="9144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Every pricing decision, delivery approval, and stock query needed the MD personally. 20+ calls a day. No time for strategy.</a:t>
            </a:r>
            <a:endParaRPr lang="en-US" sz="1200" dirty="0"/>
          </a:p>
        </p:txBody>
      </p:sp>
      <p:sp>
        <p:nvSpPr>
          <p:cNvPr id="7" name="Shape 5"/>
          <p:cNvSpPr/>
          <p:nvPr/>
        </p:nvSpPr>
        <p:spPr>
          <a:xfrm>
            <a:off x="4800600" y="1234440"/>
            <a:ext cx="3977640" cy="1600200"/>
          </a:xfrm>
          <a:prstGeom prst="roundRect">
            <a:avLst>
              <a:gd name="adj" fmla="val 457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965192" y="1362456"/>
            <a:ext cx="356616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Memory Over System</a:t>
            </a:r>
            <a:endParaRPr lang="en-US" sz="1400" dirty="0"/>
          </a:p>
        </p:txBody>
      </p:sp>
      <p:sp>
        <p:nvSpPr>
          <p:cNvPr id="9" name="Text 7"/>
          <p:cNvSpPr/>
          <p:nvPr/>
        </p:nvSpPr>
        <p:spPr>
          <a:xfrm>
            <a:off x="4965192" y="1783080"/>
            <a:ext cx="3566160" cy="9144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Stock levels lived in the storekeeper's head. Coil allocations were verbal. Disputes had no paper trail.</a:t>
            </a:r>
            <a:endParaRPr lang="en-US" sz="1200" dirty="0"/>
          </a:p>
        </p:txBody>
      </p:sp>
      <p:sp>
        <p:nvSpPr>
          <p:cNvPr id="10" name="Shape 8"/>
          <p:cNvSpPr/>
          <p:nvPr/>
        </p:nvSpPr>
        <p:spPr>
          <a:xfrm>
            <a:off x="365760" y="3063240"/>
            <a:ext cx="3977640" cy="1600200"/>
          </a:xfrm>
          <a:prstGeom prst="roundRect">
            <a:avLst>
              <a:gd name="adj" fmla="val 457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30352" y="3191256"/>
            <a:ext cx="356616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Finance Without Confidence</a:t>
            </a:r>
            <a:endParaRPr lang="en-US" sz="1400" dirty="0"/>
          </a:p>
        </p:txBody>
      </p:sp>
      <p:sp>
        <p:nvSpPr>
          <p:cNvPr id="12" name="Text 10"/>
          <p:cNvSpPr/>
          <p:nvPr/>
        </p:nvSpPr>
        <p:spPr>
          <a:xfrm>
            <a:off x="530352" y="3611880"/>
            <a:ext cx="3566160" cy="9144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Payroll was a manual spreadsheet. No one could say with certainty: how much did we make this month, per branch?</a:t>
            </a:r>
            <a:endParaRPr lang="en-US" sz="1200" dirty="0"/>
          </a:p>
        </p:txBody>
      </p:sp>
      <p:sp>
        <p:nvSpPr>
          <p:cNvPr id="13" name="Shape 11"/>
          <p:cNvSpPr/>
          <p:nvPr/>
        </p:nvSpPr>
        <p:spPr>
          <a:xfrm>
            <a:off x="4800600" y="3063240"/>
            <a:ext cx="3977640" cy="1600200"/>
          </a:xfrm>
          <a:prstGeom prst="roundRect">
            <a:avLst>
              <a:gd name="adj" fmla="val 457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965192" y="3191256"/>
            <a:ext cx="356616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No Cross-Branch Visibility</a:t>
            </a:r>
            <a:endParaRPr lang="en-US" sz="1400" dirty="0"/>
          </a:p>
        </p:txBody>
      </p:sp>
      <p:sp>
        <p:nvSpPr>
          <p:cNvPr id="15" name="Text 13"/>
          <p:cNvSpPr/>
          <p:nvPr/>
        </p:nvSpPr>
        <p:spPr>
          <a:xfrm>
            <a:off x="4965192" y="3611880"/>
            <a:ext cx="3566160" cy="9144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Kaduna didn't know what Yola was producing. Maiduguri's receipts weren't visible in real time. Each branch was an island.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6858000" y="2286000"/>
            <a:ext cx="3657600" cy="3657600"/>
          </a:xfrm>
          <a:prstGeom prst="ellipse">
            <a:avLst/>
          </a:prstGeom>
          <a:solidFill>
            <a:srgbClr val="C9A227">
              <a:alpha val="12000"/>
            </a:srgbClr>
          </a:solidFill>
          <a:ln w="12700">
            <a:solidFill>
              <a:srgbClr val="333333"/>
            </a:solidFill>
            <a:prstDash val="solid"/>
          </a:ln>
        </p:spPr>
      </p:sp>
      <p:sp>
        <p:nvSpPr>
          <p:cNvPr id="3" name="Text 1"/>
          <p:cNvSpPr/>
          <p:nvPr/>
        </p:nvSpPr>
        <p:spPr>
          <a:xfrm>
            <a:off x="640080" y="457200"/>
            <a:ext cx="7863840" cy="347472"/>
          </a:xfrm>
          <a:prstGeom prst="rect">
            <a:avLst/>
          </a:prstGeom>
          <a:noFill/>
          <a:ln/>
        </p:spPr>
        <p:txBody>
          <a:bodyPr wrap="square" lIns="0" tIns="0" rIns="0" bIns="0" rtlCol="0" anchor="ctr"/>
          <a:lstStyle/>
          <a:p>
            <a:pPr algn="l" indent="0" marL="0">
              <a:buNone/>
            </a:pPr>
            <a:r>
              <a:rPr lang="en-US" sz="1100" b="1" spc="400" kern="0" dirty="0">
                <a:solidFill>
                  <a:srgbClr val="F0C040"/>
                </a:solidFill>
                <a:latin typeface="Calibri" pitchFamily="34" charset="0"/>
                <a:ea typeface="Calibri" pitchFamily="34" charset="-122"/>
                <a:cs typeface="Calibri" pitchFamily="34" charset="-120"/>
              </a:rPr>
              <a:t>THE DECISION</a:t>
            </a:r>
            <a:endParaRPr lang="en-US" sz="1100" dirty="0"/>
          </a:p>
        </p:txBody>
      </p:sp>
      <p:sp>
        <p:nvSpPr>
          <p:cNvPr id="4" name="Text 2"/>
          <p:cNvSpPr/>
          <p:nvPr/>
        </p:nvSpPr>
        <p:spPr>
          <a:xfrm>
            <a:off x="640080" y="1005840"/>
            <a:ext cx="7498080" cy="91440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We chose to build differently.</a:t>
            </a:r>
            <a:endParaRPr lang="en-US" sz="3800" dirty="0"/>
          </a:p>
        </p:txBody>
      </p:sp>
      <p:sp>
        <p:nvSpPr>
          <p:cNvPr id="5" name="Text 3"/>
          <p:cNvSpPr/>
          <p:nvPr/>
        </p:nvSpPr>
        <p:spPr>
          <a:xfrm>
            <a:off x="640080" y="2057400"/>
            <a:ext cx="7315200" cy="914400"/>
          </a:xfrm>
          <a:prstGeom prst="rect">
            <a:avLst/>
          </a:prstGeom>
          <a:noFill/>
          <a:ln/>
        </p:spPr>
        <p:txBody>
          <a:bodyPr wrap="square" lIns="0" tIns="0" rIns="0" bIns="0" rtlCol="0" anchor="ctr"/>
          <a:lstStyle/>
          <a:p>
            <a:pPr algn="l" indent="0" marL="0">
              <a:buNone/>
            </a:pPr>
            <a:r>
              <a:rPr lang="en-US" sz="1600" dirty="0">
                <a:solidFill>
                  <a:srgbClr val="B8CCE8"/>
                </a:solidFill>
                <a:latin typeface="Calibri" pitchFamily="34" charset="0"/>
                <a:ea typeface="Calibri" pitchFamily="34" charset="-122"/>
                <a:cs typeface="Calibri" pitchFamily="34" charset="-120"/>
              </a:rPr>
              <a:t>Not a spreadsheet. Not a template downloaded from the internet. A live, working, custom-built ERP system designed around how Zarewa actually operates.</a:t>
            </a:r>
            <a:endParaRPr lang="en-US" sz="1600" dirty="0"/>
          </a:p>
        </p:txBody>
      </p:sp>
      <p:sp>
        <p:nvSpPr>
          <p:cNvPr id="6" name="Text 4"/>
          <p:cNvSpPr/>
          <p:nvPr/>
        </p:nvSpPr>
        <p:spPr>
          <a:xfrm>
            <a:off x="640080" y="3154680"/>
            <a:ext cx="749808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A React web application — accessible from any device, any location</a:t>
            </a:r>
            <a:endParaRPr lang="en-US" sz="1300" dirty="0"/>
          </a:p>
        </p:txBody>
      </p:sp>
      <p:sp>
        <p:nvSpPr>
          <p:cNvPr id="7" name="Text 5"/>
          <p:cNvSpPr/>
          <p:nvPr/>
        </p:nvSpPr>
        <p:spPr>
          <a:xfrm>
            <a:off x="640080" y="3575304"/>
            <a:ext cx="749808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A secure Node.js backend with 124+ database tables tracking every transaction</a:t>
            </a:r>
            <a:endParaRPr lang="en-US" sz="1300" dirty="0"/>
          </a:p>
        </p:txBody>
      </p:sp>
      <p:sp>
        <p:nvSpPr>
          <p:cNvPr id="8" name="Text 6"/>
          <p:cNvSpPr/>
          <p:nvPr/>
        </p:nvSpPr>
        <p:spPr>
          <a:xfrm>
            <a:off x="640080" y="3995928"/>
            <a:ext cx="749808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Role-based access for every staff category — from cashier to chairman</a:t>
            </a:r>
            <a:endParaRPr lang="en-US" sz="1300" dirty="0"/>
          </a:p>
        </p:txBody>
      </p:sp>
      <p:sp>
        <p:nvSpPr>
          <p:cNvPr id="9" name="Text 7"/>
          <p:cNvSpPr/>
          <p:nvPr/>
        </p:nvSpPr>
        <p:spPr>
          <a:xfrm>
            <a:off x="640080" y="4416552"/>
            <a:ext cx="749808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A 30,788-word System of Operations manual documenting every procedure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SYSTEM AT A GLANCE</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600" b="1" dirty="0">
                <a:solidFill>
                  <a:srgbClr val="1A1A2E"/>
                </a:solidFill>
                <a:latin typeface="Cambria" pitchFamily="34" charset="0"/>
                <a:ea typeface="Cambria" pitchFamily="34" charset="-122"/>
                <a:cs typeface="Cambria" pitchFamily="34" charset="-120"/>
              </a:rPr>
              <a:t>Built from scratch. Built for Zarewa.</a:t>
            </a:r>
            <a:endParaRPr lang="en-US" sz="2600" dirty="0"/>
          </a:p>
        </p:txBody>
      </p:sp>
      <p:sp>
        <p:nvSpPr>
          <p:cNvPr id="4" name="Shape 2"/>
          <p:cNvSpPr/>
          <p:nvPr/>
        </p:nvSpPr>
        <p:spPr>
          <a:xfrm>
            <a:off x="365760" y="1207008"/>
            <a:ext cx="1920240" cy="3566160"/>
          </a:xfrm>
          <a:prstGeom prst="roundRect">
            <a:avLst>
              <a:gd name="adj" fmla="val 476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57200" y="1554480"/>
            <a:ext cx="1737360" cy="1280160"/>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3</a:t>
            </a:r>
            <a:endParaRPr lang="en-US" sz="4000" dirty="0"/>
          </a:p>
        </p:txBody>
      </p:sp>
      <p:sp>
        <p:nvSpPr>
          <p:cNvPr id="6" name="Text 4"/>
          <p:cNvSpPr/>
          <p:nvPr/>
        </p:nvSpPr>
        <p:spPr>
          <a:xfrm>
            <a:off x="457200" y="2926080"/>
            <a:ext cx="1737360" cy="8229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Active Branches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Kaduna · Yola · Maiduguri</a:t>
            </a:r>
            <a:endParaRPr lang="en-US" sz="1200" dirty="0"/>
          </a:p>
        </p:txBody>
      </p:sp>
      <p:sp>
        <p:nvSpPr>
          <p:cNvPr id="7" name="Shape 5"/>
          <p:cNvSpPr/>
          <p:nvPr/>
        </p:nvSpPr>
        <p:spPr>
          <a:xfrm>
            <a:off x="2404872" y="1207008"/>
            <a:ext cx="1920240" cy="3566160"/>
          </a:xfrm>
          <a:prstGeom prst="roundRect">
            <a:avLst>
              <a:gd name="adj" fmla="val 476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2496312" y="1554480"/>
            <a:ext cx="1737360" cy="1280160"/>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12</a:t>
            </a:r>
            <a:endParaRPr lang="en-US" sz="4000" dirty="0"/>
          </a:p>
        </p:txBody>
      </p:sp>
      <p:sp>
        <p:nvSpPr>
          <p:cNvPr id="9" name="Text 7"/>
          <p:cNvSpPr/>
          <p:nvPr/>
        </p:nvSpPr>
        <p:spPr>
          <a:xfrm>
            <a:off x="2496312" y="2926080"/>
            <a:ext cx="1737360" cy="8229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Distinct User Roles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From Cashier to Chairman</a:t>
            </a:r>
            <a:endParaRPr lang="en-US" sz="1200" dirty="0"/>
          </a:p>
        </p:txBody>
      </p:sp>
      <p:sp>
        <p:nvSpPr>
          <p:cNvPr id="10" name="Shape 8"/>
          <p:cNvSpPr/>
          <p:nvPr/>
        </p:nvSpPr>
        <p:spPr>
          <a:xfrm>
            <a:off x="4443984" y="1207008"/>
            <a:ext cx="1920240" cy="3566160"/>
          </a:xfrm>
          <a:prstGeom prst="roundRect">
            <a:avLst>
              <a:gd name="adj" fmla="val 476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35424" y="1554480"/>
            <a:ext cx="1737360" cy="1280160"/>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124+</a:t>
            </a:r>
            <a:endParaRPr lang="en-US" sz="4000" dirty="0"/>
          </a:p>
        </p:txBody>
      </p:sp>
      <p:sp>
        <p:nvSpPr>
          <p:cNvPr id="12" name="Text 10"/>
          <p:cNvSpPr/>
          <p:nvPr/>
        </p:nvSpPr>
        <p:spPr>
          <a:xfrm>
            <a:off x="4535424" y="2926080"/>
            <a:ext cx="1737360" cy="8229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Database Tables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Every transaction recorded</a:t>
            </a:r>
            <a:endParaRPr lang="en-US" sz="1200" dirty="0"/>
          </a:p>
        </p:txBody>
      </p:sp>
      <p:sp>
        <p:nvSpPr>
          <p:cNvPr id="13" name="Shape 11"/>
          <p:cNvSpPr/>
          <p:nvPr/>
        </p:nvSpPr>
        <p:spPr>
          <a:xfrm>
            <a:off x="6483096" y="1207008"/>
            <a:ext cx="1920240" cy="3566160"/>
          </a:xfrm>
          <a:prstGeom prst="roundRect">
            <a:avLst>
              <a:gd name="adj" fmla="val 476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6574536" y="1554480"/>
            <a:ext cx="1737360" cy="1280160"/>
          </a:xfrm>
          <a:prstGeom prst="rect">
            <a:avLst/>
          </a:prstGeom>
          <a:noFill/>
          <a:ln/>
        </p:spPr>
        <p:txBody>
          <a:bodyPr wrap="square" lIns="0" tIns="0" rIns="0" bIns="0" rtlCol="0" anchor="ctr"/>
          <a:lstStyle/>
          <a:p>
            <a:pPr algn="ctr" indent="0" marL="0">
              <a:buNone/>
            </a:pPr>
            <a:r>
              <a:rPr lang="en-US" sz="4000" b="1" dirty="0">
                <a:solidFill>
                  <a:srgbClr val="F0C040"/>
                </a:solidFill>
                <a:latin typeface="Cambria" pitchFamily="34" charset="0"/>
                <a:ea typeface="Cambria" pitchFamily="34" charset="-122"/>
                <a:cs typeface="Cambria" pitchFamily="34" charset="-120"/>
              </a:rPr>
              <a:t>30,788</a:t>
            </a:r>
            <a:endParaRPr lang="en-US" sz="4000" dirty="0"/>
          </a:p>
        </p:txBody>
      </p:sp>
      <p:sp>
        <p:nvSpPr>
          <p:cNvPr id="15" name="Text 13"/>
          <p:cNvSpPr/>
          <p:nvPr/>
        </p:nvSpPr>
        <p:spPr>
          <a:xfrm>
            <a:off x="6574536" y="2926080"/>
            <a:ext cx="1737360" cy="8229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Words of SOPs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20 procedure documents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BUSINESS LIFECYCLE</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From first customer contact to delivery — every step is in the system</a:t>
            </a:r>
            <a:endParaRPr lang="en-US" sz="2200" dirty="0"/>
          </a:p>
        </p:txBody>
      </p:sp>
      <p:sp>
        <p:nvSpPr>
          <p:cNvPr id="4" name="Shape 2"/>
          <p:cNvSpPr/>
          <p:nvPr/>
        </p:nvSpPr>
        <p:spPr>
          <a:xfrm>
            <a:off x="320040" y="1188720"/>
            <a:ext cx="1554480" cy="3611880"/>
          </a:xfrm>
          <a:prstGeom prst="roundRect">
            <a:avLst>
              <a:gd name="adj" fmla="val 588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822960" y="1325880"/>
            <a:ext cx="548640" cy="548640"/>
          </a:xfrm>
          <a:prstGeom prst="ellipse">
            <a:avLst/>
          </a:prstGeom>
          <a:solidFill>
            <a:srgbClr val="C9A227"/>
          </a:solidFill>
          <a:ln w="12700">
            <a:solidFill>
              <a:srgbClr val="333333"/>
            </a:solidFill>
            <a:prstDash val="solid"/>
          </a:ln>
        </p:spPr>
      </p:sp>
      <p:sp>
        <p:nvSpPr>
          <p:cNvPr id="6" name="Text 4"/>
          <p:cNvSpPr/>
          <p:nvPr/>
        </p:nvSpPr>
        <p:spPr>
          <a:xfrm>
            <a:off x="822960" y="132588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411480" y="2029968"/>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Quotation</a:t>
            </a:r>
            <a:endParaRPr lang="en-US" sz="1400" dirty="0"/>
          </a:p>
        </p:txBody>
      </p:sp>
      <p:sp>
        <p:nvSpPr>
          <p:cNvPr id="8" name="Text 6"/>
          <p:cNvSpPr/>
          <p:nvPr/>
        </p:nvSpPr>
        <p:spPr>
          <a:xfrm>
            <a:off x="411480" y="2542032"/>
            <a:ext cx="1371600" cy="2011680"/>
          </a:xfrm>
          <a:prstGeom prst="rect">
            <a:avLst/>
          </a:prstGeom>
          <a:noFill/>
          <a:ln/>
        </p:spPr>
        <p:txBody>
          <a:bodyPr wrap="square" lIns="0" tIns="0" rIns="0" bIns="0" rtlCol="0" anchor="ctr"/>
          <a:lstStyle/>
          <a:p>
            <a:pPr algn="ctr" indent="0" marL="0">
              <a:buNone/>
            </a:pPr>
            <a:r>
              <a:rPr lang="en-US" sz="1100" dirty="0">
                <a:solidFill>
                  <a:srgbClr val="8DA4C0"/>
                </a:solidFill>
                <a:latin typeface="Calibri" pitchFamily="34" charset="0"/>
                <a:ea typeface="Calibri" pitchFamily="34" charset="-122"/>
                <a:cs typeface="Calibri" pitchFamily="34" charset="-120"/>
              </a:rPr>
              <a:t>Sales creates QT</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Floor price gate</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MD exception if below</a:t>
            </a:r>
            <a:endParaRPr lang="en-US" sz="1100" dirty="0"/>
          </a:p>
        </p:txBody>
      </p:sp>
      <p:sp>
        <p:nvSpPr>
          <p:cNvPr id="9" name="Text 7"/>
          <p:cNvSpPr/>
          <p:nvPr/>
        </p:nvSpPr>
        <p:spPr>
          <a:xfrm>
            <a:off x="1892808" y="2560320"/>
            <a:ext cx="201168" cy="36576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020824" y="1188720"/>
            <a:ext cx="1554480" cy="3611880"/>
          </a:xfrm>
          <a:prstGeom prst="roundRect">
            <a:avLst>
              <a:gd name="adj" fmla="val 588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2523744" y="1325880"/>
            <a:ext cx="548640" cy="548640"/>
          </a:xfrm>
          <a:prstGeom prst="ellipse">
            <a:avLst/>
          </a:prstGeom>
          <a:solidFill>
            <a:srgbClr val="C9A227"/>
          </a:solidFill>
          <a:ln w="12700">
            <a:solidFill>
              <a:srgbClr val="333333"/>
            </a:solidFill>
            <a:prstDash val="solid"/>
          </a:ln>
        </p:spPr>
      </p:sp>
      <p:sp>
        <p:nvSpPr>
          <p:cNvPr id="12" name="Text 10"/>
          <p:cNvSpPr/>
          <p:nvPr/>
        </p:nvSpPr>
        <p:spPr>
          <a:xfrm>
            <a:off x="2523744" y="132588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112264" y="2029968"/>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a:t>
            </a:r>
            <a:endParaRPr lang="en-US" sz="1400" dirty="0"/>
          </a:p>
        </p:txBody>
      </p:sp>
      <p:sp>
        <p:nvSpPr>
          <p:cNvPr id="14" name="Text 12"/>
          <p:cNvSpPr/>
          <p:nvPr/>
        </p:nvSpPr>
        <p:spPr>
          <a:xfrm>
            <a:off x="2112264" y="2542032"/>
            <a:ext cx="1371600" cy="2011680"/>
          </a:xfrm>
          <a:prstGeom prst="rect">
            <a:avLst/>
          </a:prstGeom>
          <a:noFill/>
          <a:ln/>
        </p:spPr>
        <p:txBody>
          <a:bodyPr wrap="square" lIns="0" tIns="0" rIns="0" bIns="0" rtlCol="0" anchor="ctr"/>
          <a:lstStyle/>
          <a:p>
            <a:pPr algn="ctr" indent="0" marL="0">
              <a:buNone/>
            </a:pPr>
            <a:r>
              <a:rPr lang="en-US" sz="1100" dirty="0">
                <a:solidFill>
                  <a:srgbClr val="8DA4C0"/>
                </a:solidFill>
                <a:latin typeface="Calibri" pitchFamily="34" charset="0"/>
                <a:ea typeface="Calibri" pitchFamily="34" charset="-122"/>
                <a:cs typeface="Calibri" pitchFamily="34" charset="-120"/>
              </a:rPr>
              <a:t>Cashier posts receipt</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Clearance confirmed</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70%+ gate for production</a:t>
            </a:r>
            <a:endParaRPr lang="en-US" sz="1100" dirty="0"/>
          </a:p>
        </p:txBody>
      </p:sp>
      <p:sp>
        <p:nvSpPr>
          <p:cNvPr id="15" name="Text 13"/>
          <p:cNvSpPr/>
          <p:nvPr/>
        </p:nvSpPr>
        <p:spPr>
          <a:xfrm>
            <a:off x="3593592" y="2560320"/>
            <a:ext cx="201168" cy="36576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721608" y="1188720"/>
            <a:ext cx="1554480" cy="3611880"/>
          </a:xfrm>
          <a:prstGeom prst="roundRect">
            <a:avLst>
              <a:gd name="adj" fmla="val 588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224528" y="1325880"/>
            <a:ext cx="548640" cy="548640"/>
          </a:xfrm>
          <a:prstGeom prst="ellipse">
            <a:avLst/>
          </a:prstGeom>
          <a:solidFill>
            <a:srgbClr val="C9A227"/>
          </a:solidFill>
          <a:ln w="12700">
            <a:solidFill>
              <a:srgbClr val="333333"/>
            </a:solidFill>
            <a:prstDash val="solid"/>
          </a:ln>
        </p:spPr>
      </p:sp>
      <p:sp>
        <p:nvSpPr>
          <p:cNvPr id="18" name="Text 16"/>
          <p:cNvSpPr/>
          <p:nvPr/>
        </p:nvSpPr>
        <p:spPr>
          <a:xfrm>
            <a:off x="4224528" y="132588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3813048" y="2029968"/>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Production</a:t>
            </a:r>
            <a:endParaRPr lang="en-US" sz="1400" dirty="0"/>
          </a:p>
        </p:txBody>
      </p:sp>
      <p:sp>
        <p:nvSpPr>
          <p:cNvPr id="20" name="Text 18"/>
          <p:cNvSpPr/>
          <p:nvPr/>
        </p:nvSpPr>
        <p:spPr>
          <a:xfrm>
            <a:off x="3813048" y="2542032"/>
            <a:ext cx="1371600" cy="2011680"/>
          </a:xfrm>
          <a:prstGeom prst="rect">
            <a:avLst/>
          </a:prstGeom>
          <a:noFill/>
          <a:ln/>
        </p:spPr>
        <p:txBody>
          <a:bodyPr wrap="square" lIns="0" tIns="0" rIns="0" bIns="0" rtlCol="0" anchor="ctr"/>
          <a:lstStyle/>
          <a:p>
            <a:pPr algn="ctr" indent="0" marL="0">
              <a:buNone/>
            </a:pPr>
            <a:r>
              <a:rPr lang="en-US" sz="1100" dirty="0">
                <a:solidFill>
                  <a:srgbClr val="8DA4C0"/>
                </a:solidFill>
                <a:latin typeface="Calibri" pitchFamily="34" charset="0"/>
                <a:ea typeface="Calibri" pitchFamily="34" charset="-122"/>
                <a:cs typeface="Calibri" pitchFamily="34" charset="-120"/>
              </a:rPr>
              <a:t>Cutting list raised</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Coil allocated</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Job completed &amp; QC'd</a:t>
            </a:r>
            <a:endParaRPr lang="en-US" sz="1100" dirty="0"/>
          </a:p>
        </p:txBody>
      </p:sp>
      <p:sp>
        <p:nvSpPr>
          <p:cNvPr id="21" name="Text 19"/>
          <p:cNvSpPr/>
          <p:nvPr/>
        </p:nvSpPr>
        <p:spPr>
          <a:xfrm>
            <a:off x="5294376" y="2560320"/>
            <a:ext cx="201168" cy="36576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5422392" y="1188720"/>
            <a:ext cx="1554480" cy="3611880"/>
          </a:xfrm>
          <a:prstGeom prst="roundRect">
            <a:avLst>
              <a:gd name="adj" fmla="val 588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23" name="Shape 21"/>
          <p:cNvSpPr/>
          <p:nvPr/>
        </p:nvSpPr>
        <p:spPr>
          <a:xfrm>
            <a:off x="5925312" y="1325880"/>
            <a:ext cx="548640" cy="548640"/>
          </a:xfrm>
          <a:prstGeom prst="ellipse">
            <a:avLst/>
          </a:prstGeom>
          <a:solidFill>
            <a:srgbClr val="C9A227"/>
          </a:solidFill>
          <a:ln w="12700">
            <a:solidFill>
              <a:srgbClr val="333333"/>
            </a:solidFill>
            <a:prstDash val="solid"/>
          </a:ln>
        </p:spPr>
      </p:sp>
      <p:sp>
        <p:nvSpPr>
          <p:cNvPr id="24" name="Text 22"/>
          <p:cNvSpPr/>
          <p:nvPr/>
        </p:nvSpPr>
        <p:spPr>
          <a:xfrm>
            <a:off x="5925312" y="132588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5513832" y="2029968"/>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Delivery</a:t>
            </a:r>
            <a:endParaRPr lang="en-US" sz="1400" dirty="0"/>
          </a:p>
        </p:txBody>
      </p:sp>
      <p:sp>
        <p:nvSpPr>
          <p:cNvPr id="26" name="Text 24"/>
          <p:cNvSpPr/>
          <p:nvPr/>
        </p:nvSpPr>
        <p:spPr>
          <a:xfrm>
            <a:off x="5513832" y="2542032"/>
            <a:ext cx="1371600" cy="2011680"/>
          </a:xfrm>
          <a:prstGeom prst="rect">
            <a:avLst/>
          </a:prstGeom>
          <a:noFill/>
          <a:ln/>
        </p:spPr>
        <p:txBody>
          <a:bodyPr wrap="square" lIns="0" tIns="0" rIns="0" bIns="0" rtlCol="0" anchor="ctr"/>
          <a:lstStyle/>
          <a:p>
            <a:pPr algn="ctr" indent="0" marL="0">
              <a:buNone/>
            </a:pPr>
            <a:r>
              <a:rPr lang="en-US" sz="1100" dirty="0">
                <a:solidFill>
                  <a:srgbClr val="8DA4C0"/>
                </a:solidFill>
                <a:latin typeface="Calibri" pitchFamily="34" charset="0"/>
                <a:ea typeface="Calibri" pitchFamily="34" charset="-122"/>
                <a:cs typeface="Calibri" pitchFamily="34" charset="-120"/>
              </a:rPr>
              <a:t>DLV created</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Payment gate checked</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POD confirmed</a:t>
            </a:r>
            <a:endParaRPr lang="en-US" sz="1100" dirty="0"/>
          </a:p>
        </p:txBody>
      </p:sp>
      <p:sp>
        <p:nvSpPr>
          <p:cNvPr id="27" name="Text 25"/>
          <p:cNvSpPr/>
          <p:nvPr/>
        </p:nvSpPr>
        <p:spPr>
          <a:xfrm>
            <a:off x="6995160" y="2560320"/>
            <a:ext cx="201168" cy="36576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7123176" y="1188720"/>
            <a:ext cx="1554480" cy="3611880"/>
          </a:xfrm>
          <a:prstGeom prst="roundRect">
            <a:avLst>
              <a:gd name="adj" fmla="val 588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29" name="Shape 27"/>
          <p:cNvSpPr/>
          <p:nvPr/>
        </p:nvSpPr>
        <p:spPr>
          <a:xfrm>
            <a:off x="7626096" y="1325880"/>
            <a:ext cx="548640" cy="548640"/>
          </a:xfrm>
          <a:prstGeom prst="ellipse">
            <a:avLst/>
          </a:prstGeom>
          <a:solidFill>
            <a:srgbClr val="C9A227"/>
          </a:solidFill>
          <a:ln w="12700">
            <a:solidFill>
              <a:srgbClr val="333333"/>
            </a:solidFill>
            <a:prstDash val="solid"/>
          </a:ln>
        </p:spPr>
      </p:sp>
      <p:sp>
        <p:nvSpPr>
          <p:cNvPr id="30" name="Text 28"/>
          <p:cNvSpPr/>
          <p:nvPr/>
        </p:nvSpPr>
        <p:spPr>
          <a:xfrm>
            <a:off x="7626096" y="132588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7214616" y="2029968"/>
            <a:ext cx="1371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Revenue</a:t>
            </a:r>
            <a:endParaRPr lang="en-US" sz="1400" dirty="0"/>
          </a:p>
        </p:txBody>
      </p:sp>
      <p:sp>
        <p:nvSpPr>
          <p:cNvPr id="32" name="Text 30"/>
          <p:cNvSpPr/>
          <p:nvPr/>
        </p:nvSpPr>
        <p:spPr>
          <a:xfrm>
            <a:off x="7214616" y="2542032"/>
            <a:ext cx="1371600" cy="2011680"/>
          </a:xfrm>
          <a:prstGeom prst="rect">
            <a:avLst/>
          </a:prstGeom>
          <a:noFill/>
          <a:ln/>
        </p:spPr>
        <p:txBody>
          <a:bodyPr wrap="square" lIns="0" tIns="0" rIns="0" bIns="0" rtlCol="0" anchor="ctr"/>
          <a:lstStyle/>
          <a:p>
            <a:pPr algn="ctr" indent="0" marL="0">
              <a:buNone/>
            </a:pPr>
            <a:r>
              <a:rPr lang="en-US" sz="1100" dirty="0">
                <a:solidFill>
                  <a:srgbClr val="8DA4C0"/>
                </a:solidFill>
                <a:latin typeface="Calibri" pitchFamily="34" charset="0"/>
                <a:ea typeface="Calibri" pitchFamily="34" charset="-122"/>
                <a:cs typeface="Calibri" pitchFamily="34" charset="-120"/>
              </a:rPr>
              <a:t>Recognised at job</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completion (AP1c)</a:t>
            </a:r>
            <a:endParaRPr lang="en-US" sz="1100" dirty="0"/>
          </a:p>
          <a:p>
            <a:pPr algn="ctr" indent="0" marL="0">
              <a:buNone/>
            </a:pPr>
            <a:r>
              <a:rPr lang="en-US" sz="1100" dirty="0">
                <a:solidFill>
                  <a:srgbClr val="8DA4C0"/>
                </a:solidFill>
                <a:latin typeface="Calibri" pitchFamily="34" charset="0"/>
                <a:ea typeface="Calibri" pitchFamily="34" charset="-122"/>
                <a:cs typeface="Calibri" pitchFamily="34" charset="-120"/>
              </a:rPr>
              <a:t>GL auto-posted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LEADERSHIP</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the Managing Director — from firefighter to architect</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Command Centre</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One screen shows every branch — cash position, production queue, pending approvals, stock alerts. No calls needed to know what's happening.</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Decision Queue</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Price exceptions, refunds above ₦1M, payroll sign-off, inter-branch loans — all route to the MD digitally. Approve from anywhere, at any time.</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Executive Reports</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Revenue by branch, collection performance, aged receivables, production output — all available on demand. Real data, not estimates.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BRANCH LEADERSHIP</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the Branch Manager — authority, visibility, accountability</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Manager Dashboard</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Live view of quotations, production jobs, stock levels, pending receipts, and open deliveries. Nothing hides from the BM.</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Authority Within Limits</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Approve price exceptions within floor, override production gate with justification, approve expenses up to ₦200k — authority is defined, not guessed.</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Stock Register Sign-Off</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Monthly stock register cannot close without BM approval — then MD, then lock. The BM is the first line of inventory accountability.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OPERATIONS</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Operations &amp; Store — nothing moves without a record</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Every Delivery Documented</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Goods Received Notes (GRN) capture every delivery — supplier, quantity, weight, coil specs. No verbal handovers. No disputes.</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Coil-by-Coil Tracking</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Every coil has an ID, a weight, a gauge, and a location. Allocation to production is recorded. Tail weight thresholds (85kg) trigger alerts automatically.</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4-Stage Stock Sign-Off</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Monthly stock register: Store confirms → BM approves → MD approves → Admin locks. Once locked, the record is permanent. No retroactive changes.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SALES</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Sales Staff &amp; Officers — from quote to production queue</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Smart Quotations</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Every quotation carries an auto-enforced floor price. Sales cannot undercut margins without a flagged MD exception. No more quiet discounts.</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Cutting List to Production</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Once payment is confirmed (≥70%), the cutting list goes directly to the production queue. No phone calls, no paper handover.</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Full Customer History</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Every customer record shows: all past quotations, payment history, outstanding balance, and credit terms. Relationships are remembered by the system.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FINANCE</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Cashier &amp; Accountant — dual control, full audit trail</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Dual Control on Payments</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The person who requests a refund cannot approve it. The approver cannot pay it. Three different people must touch every significant outflow.</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Bank Reconciliation Built-In</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Every bank deposit, transfer, and treasury movement is recorded. Month-end bank rec is a matching exercise — not a discovery exercise.</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GL Auto-Posted</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Revenue, payables, and receipts post automatically to the correct GL accounts. The accountant reviews and reconciles — not manually builds from scratch each month.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DESIGNED FOR PEOPLE MANAGEMENT</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For HR — managing people by the book, every time</a:t>
            </a:r>
            <a:endParaRPr lang="en-US" sz="2400" dirty="0"/>
          </a:p>
        </p:txBody>
      </p:sp>
      <p:sp>
        <p:nvSpPr>
          <p:cNvPr id="4" name="Shape 2"/>
          <p:cNvSpPr/>
          <p:nvPr/>
        </p:nvSpPr>
        <p:spPr>
          <a:xfrm>
            <a:off x="36576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Payroll Chain</a:t>
            </a:r>
            <a:endParaRPr lang="en-US" sz="1500" dirty="0"/>
          </a:p>
        </p:txBody>
      </p:sp>
      <p:sp>
        <p:nvSpPr>
          <p:cNvPr id="6" name="Text 4"/>
          <p:cNvSpPr/>
          <p:nvPr/>
        </p:nvSpPr>
        <p:spPr>
          <a:xfrm>
            <a:off x="50292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HR Admin prepares → GM HR endorses → MD approves → Finance exports. Payroll cannot be paid without MD sign-off. No exceptions in the code.</a:t>
            </a:r>
            <a:endParaRPr lang="en-US" sz="1200" dirty="0"/>
          </a:p>
        </p:txBody>
      </p:sp>
      <p:sp>
        <p:nvSpPr>
          <p:cNvPr id="7" name="Shape 5"/>
          <p:cNvSpPr/>
          <p:nvPr/>
        </p:nvSpPr>
        <p:spPr>
          <a:xfrm>
            <a:off x="329184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42900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Leave &amp; Loan Management</a:t>
            </a:r>
            <a:endParaRPr lang="en-US" sz="1500" dirty="0"/>
          </a:p>
        </p:txBody>
      </p:sp>
      <p:sp>
        <p:nvSpPr>
          <p:cNvPr id="9" name="Text 7"/>
          <p:cNvSpPr/>
          <p:nvPr/>
        </p:nvSpPr>
        <p:spPr>
          <a:xfrm>
            <a:off x="342900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Staff apply through the system. Managers approve or reject with reason. Loan deductions are tracked automatically against salary. No manual calculations.</a:t>
            </a:r>
            <a:endParaRPr lang="en-US" sz="1200" dirty="0"/>
          </a:p>
        </p:txBody>
      </p:sp>
      <p:sp>
        <p:nvSpPr>
          <p:cNvPr id="10" name="Shape 8"/>
          <p:cNvSpPr/>
          <p:nvPr/>
        </p:nvSpPr>
        <p:spPr>
          <a:xfrm>
            <a:off x="6217920" y="1207008"/>
            <a:ext cx="2743200" cy="3566160"/>
          </a:xfrm>
          <a:prstGeom prst="roundRect">
            <a:avLst>
              <a:gd name="adj" fmla="val 333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355080" y="1371600"/>
            <a:ext cx="2468880" cy="4114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Discipline Ladder</a:t>
            </a:r>
            <a:endParaRPr lang="en-US" sz="1500" dirty="0"/>
          </a:p>
        </p:txBody>
      </p:sp>
      <p:sp>
        <p:nvSpPr>
          <p:cNvPr id="12" name="Text 10"/>
          <p:cNvSpPr/>
          <p:nvPr/>
        </p:nvSpPr>
        <p:spPr>
          <a:xfrm>
            <a:off x="6355080" y="1874520"/>
            <a:ext cx="2468880" cy="2743200"/>
          </a:xfrm>
          <a:prstGeom prst="rect">
            <a:avLst/>
          </a:prstGeom>
          <a:noFill/>
          <a:ln/>
        </p:spPr>
        <p:txBody>
          <a:bodyPr wrap="square" lIns="0" tIns="0" rIns="0" bIns="0" rtlCol="0" anchor="ctr"/>
          <a:lstStyle/>
          <a:p>
            <a:pPr algn="l" indent="0" marL="0">
              <a:buNone/>
            </a:pPr>
            <a:r>
              <a:rPr lang="en-US" sz="1200" dirty="0">
                <a:solidFill>
                  <a:srgbClr val="64748B"/>
                </a:solidFill>
                <a:latin typeface="Calibri" pitchFamily="34" charset="0"/>
                <a:ea typeface="Calibri" pitchFamily="34" charset="-122"/>
                <a:cs typeface="Calibri" pitchFamily="34" charset="-120"/>
              </a:rPr>
              <a:t>4-stage documented process: verbal warning → written query → final warning → separation. Every step is recorded. Every outcome is referenced in writing.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914400" y="-914400"/>
            <a:ext cx="4114800" cy="4114800"/>
          </a:xfrm>
          <a:prstGeom prst="ellipse">
            <a:avLst/>
          </a:prstGeom>
          <a:solidFill>
            <a:srgbClr val="C9A227">
              <a:alpha val="12000"/>
            </a:srgbClr>
          </a:solidFill>
          <a:ln w="12700">
            <a:solidFill>
              <a:srgbClr val="333333"/>
            </a:solidFill>
            <a:prstDash val="solid"/>
          </a:ln>
        </p:spPr>
      </p:sp>
      <p:sp>
        <p:nvSpPr>
          <p:cNvPr id="3" name="Shape 1"/>
          <p:cNvSpPr/>
          <p:nvPr/>
        </p:nvSpPr>
        <p:spPr>
          <a:xfrm>
            <a:off x="6858000" y="3200400"/>
            <a:ext cx="3200400" cy="3200400"/>
          </a:xfrm>
          <a:prstGeom prst="ellipse">
            <a:avLst/>
          </a:prstGeom>
          <a:solidFill>
            <a:srgbClr val="1E4D8C">
              <a:alpha val="35000"/>
            </a:srgbClr>
          </a:solidFill>
          <a:ln w="12700">
            <a:solidFill>
              <a:srgbClr val="333333"/>
            </a:solidFill>
            <a:prstDash val="solid"/>
          </a:ln>
        </p:spPr>
      </p:sp>
      <p:sp>
        <p:nvSpPr>
          <p:cNvPr id="4" name="Text 2"/>
          <p:cNvSpPr/>
          <p:nvPr/>
        </p:nvSpPr>
        <p:spPr>
          <a:xfrm>
            <a:off x="640080" y="457200"/>
            <a:ext cx="7863840" cy="347472"/>
          </a:xfrm>
          <a:prstGeom prst="rect">
            <a:avLst/>
          </a:prstGeom>
          <a:noFill/>
          <a:ln/>
        </p:spPr>
        <p:txBody>
          <a:bodyPr wrap="square" lIns="0" tIns="0" rIns="0" bIns="0" rtlCol="0" anchor="ctr"/>
          <a:lstStyle/>
          <a:p>
            <a:pPr algn="l" indent="0" marL="0">
              <a:buNone/>
            </a:pPr>
            <a:r>
              <a:rPr lang="en-US" sz="1100" b="1" spc="400" kern="0" dirty="0">
                <a:solidFill>
                  <a:srgbClr val="F0C040"/>
                </a:solidFill>
                <a:latin typeface="Calibri" pitchFamily="34" charset="0"/>
                <a:ea typeface="Calibri" pitchFamily="34" charset="-122"/>
                <a:cs typeface="Calibri" pitchFamily="34" charset="-120"/>
              </a:rPr>
              <a:t>THE CULTURE SHIFT</a:t>
            </a:r>
            <a:endParaRPr lang="en-US" sz="1100" dirty="0"/>
          </a:p>
        </p:txBody>
      </p:sp>
      <p:sp>
        <p:nvSpPr>
          <p:cNvPr id="5" name="Text 3"/>
          <p:cNvSpPr/>
          <p:nvPr/>
        </p:nvSpPr>
        <p:spPr>
          <a:xfrm>
            <a:off x="640080" y="1097280"/>
            <a:ext cx="7772400" cy="2011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"When something goes wrong,</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we don't ask who did it.</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We check the system."</a:t>
            </a:r>
            <a:endParaRPr lang="en-US" sz="3400" dirty="0"/>
          </a:p>
        </p:txBody>
      </p:sp>
      <p:sp>
        <p:nvSpPr>
          <p:cNvPr id="6" name="Text 4"/>
          <p:cNvSpPr/>
          <p:nvPr/>
        </p:nvSpPr>
        <p:spPr>
          <a:xfrm>
            <a:off x="640080" y="3246120"/>
            <a:ext cx="7498080" cy="777240"/>
          </a:xfrm>
          <a:prstGeom prst="rect">
            <a:avLst/>
          </a:prstGeom>
          <a:noFill/>
          <a:ln/>
        </p:spPr>
        <p:txBody>
          <a:bodyPr wrap="square" lIns="0" tIns="0" rIns="0" bIns="0" rtlCol="0" anchor="ctr"/>
          <a:lstStyle/>
          <a:p>
            <a:pPr algn="l" indent="0" marL="0">
              <a:buNone/>
            </a:pPr>
            <a:r>
              <a:rPr lang="en-US" sz="1500" dirty="0">
                <a:solidFill>
                  <a:srgbClr val="B8CCE8"/>
                </a:solidFill>
                <a:latin typeface="Calibri" pitchFamily="34" charset="0"/>
                <a:ea typeface="Calibri" pitchFamily="34" charset="-122"/>
                <a:cs typeface="Calibri" pitchFamily="34" charset="-120"/>
              </a:rPr>
              <a:t>Every action in the ERP has a user, a timestamp, and a record. Good staff have nothing to fear from this trail. Shortcuts and missing stock have nowhere to hide.</a:t>
            </a:r>
            <a:endParaRPr lang="en-US" sz="1500" dirty="0"/>
          </a:p>
        </p:txBody>
      </p:sp>
      <p:sp>
        <p:nvSpPr>
          <p:cNvPr id="7" name="Text 5"/>
          <p:cNvSpPr/>
          <p:nvPr/>
        </p:nvSpPr>
        <p:spPr>
          <a:xfrm>
            <a:off x="640080" y="4434840"/>
            <a:ext cx="7315200" cy="347472"/>
          </a:xfrm>
          <a:prstGeom prst="rect">
            <a:avLst/>
          </a:prstGeom>
          <a:noFill/>
          <a:ln/>
        </p:spPr>
        <p:txBody>
          <a:bodyPr wrap="square" lIns="0" tIns="0" rIns="0" bIns="0" rtlCol="0" anchor="ctr"/>
          <a:lstStyle/>
          <a:p>
            <a:pPr algn="l" indent="0" marL="0">
              <a:buNone/>
            </a:pPr>
            <a:r>
              <a:rPr lang="en-US" sz="1400" b="1" dirty="0">
                <a:solidFill>
                  <a:srgbClr val="F0C040"/>
                </a:solidFill>
                <a:latin typeface="Calibri" pitchFamily="34" charset="0"/>
                <a:ea typeface="Calibri" pitchFamily="34" charset="-122"/>
                <a:cs typeface="Calibri" pitchFamily="34" charset="-120"/>
              </a:rPr>
              <a:t>From blame culture to evidence culture.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FRAUD PREVENTION</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Segregation of duties — no single person controls the full money cycle</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3520440"/>
        </p:xfrm>
        <a:graphic>
          <a:graphicData uri="http://schemas.openxmlformats.org/drawingml/2006/table">
            <a:tbl>
              <a:tblPr/>
              <a:tblGrid>
                <a:gridCol w="1737360"/>
                <a:gridCol w="2286000"/>
                <a:gridCol w="2286000"/>
                <a:gridCol w="2103120"/>
              </a:tblGrid>
              <a:tr h="7040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Process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F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Request / Create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F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Approve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F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Pay / Execute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F3C"/>
                    </a:solidFill>
                  </a:tcPr>
                </a:tc>
              </a:tr>
              <a:tr h="704088">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Customer Refund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Sales requests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BM or MD approves (&gt;₦1M = MD)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Cashier pays — after approval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04088">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Payroll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HR Admin prepares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GM HR + MD must sign off</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Finance exports to bank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r>
              <a:tr h="704088">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Expense Payment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Any authorised staff</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BM ≤₦200k or MD &gt;₦200k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Finance pays approved requests only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04088">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Stock Register</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Store confirms month-end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BM approves → MD approves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Admin locks — permanent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A"/>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COMPOUNDING VALUE OF DATA</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Every day the system runs, the business becomes more valuable</a:t>
            </a:r>
            <a:endParaRPr lang="en-US" sz="2200" dirty="0"/>
          </a:p>
        </p:txBody>
      </p:sp>
      <p:sp>
        <p:nvSpPr>
          <p:cNvPr id="4" name="Shape 2"/>
          <p:cNvSpPr/>
          <p:nvPr/>
        </p:nvSpPr>
        <p:spPr>
          <a:xfrm>
            <a:off x="365760" y="1207008"/>
            <a:ext cx="2743200" cy="3566160"/>
          </a:xfrm>
          <a:prstGeom prst="roundRect">
            <a:avLst>
              <a:gd name="adj" fmla="val 3333"/>
            </a:avLst>
          </a:prstGeom>
          <a:solidFill>
            <a:srgbClr val="1E4D8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53312"/>
            <a:ext cx="2468880" cy="457200"/>
          </a:xfrm>
          <a:prstGeom prst="rect">
            <a:avLst/>
          </a:prstGeom>
          <a:noFill/>
          <a:ln/>
        </p:spPr>
        <p:txBody>
          <a:bodyPr wrap="square" lIns="0" tIns="0" rIns="0" bIns="0" rtlCol="0" anchor="ctr"/>
          <a:lstStyle/>
          <a:p>
            <a:pPr algn="ctr" indent="0" marL="0">
              <a:buNone/>
            </a:pPr>
            <a:r>
              <a:rPr lang="en-US" sz="1800" b="1" dirty="0">
                <a:solidFill>
                  <a:srgbClr val="F0C040"/>
                </a:solidFill>
                <a:latin typeface="Cambria" pitchFamily="34" charset="0"/>
                <a:ea typeface="Cambria" pitchFamily="34" charset="-122"/>
                <a:cs typeface="Cambria" pitchFamily="34" charset="-120"/>
              </a:rPr>
              <a:t>Year 1</a:t>
            </a:r>
            <a:endParaRPr lang="en-US" sz="1800" dirty="0"/>
          </a:p>
        </p:txBody>
      </p:sp>
      <p:sp>
        <p:nvSpPr>
          <p:cNvPr id="6" name="Shape 4"/>
          <p:cNvSpPr/>
          <p:nvPr/>
        </p:nvSpPr>
        <p:spPr>
          <a:xfrm>
            <a:off x="530352" y="2011680"/>
            <a:ext cx="274320" cy="274320"/>
          </a:xfrm>
          <a:prstGeom prst="ellipse">
            <a:avLst/>
          </a:prstGeom>
          <a:solidFill>
            <a:srgbClr val="C9A227"/>
          </a:solidFill>
          <a:ln w="12700">
            <a:solidFill>
              <a:srgbClr val="333333"/>
            </a:solidFill>
            <a:prstDash val="solid"/>
          </a:ln>
        </p:spPr>
      </p:sp>
      <p:sp>
        <p:nvSpPr>
          <p:cNvPr id="7" name="Text 5"/>
          <p:cNvSpPr/>
          <p:nvPr/>
        </p:nvSpPr>
        <p:spPr>
          <a:xfrm>
            <a:off x="896112" y="1993392"/>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Know what actually happened</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(receipts, production, deliveries)</a:t>
            </a:r>
            <a:endParaRPr lang="en-US" sz="1100" dirty="0"/>
          </a:p>
        </p:txBody>
      </p:sp>
      <p:sp>
        <p:nvSpPr>
          <p:cNvPr id="8" name="Shape 6"/>
          <p:cNvSpPr/>
          <p:nvPr/>
        </p:nvSpPr>
        <p:spPr>
          <a:xfrm>
            <a:off x="530352" y="3035808"/>
            <a:ext cx="274320" cy="274320"/>
          </a:xfrm>
          <a:prstGeom prst="ellipse">
            <a:avLst/>
          </a:prstGeom>
          <a:solidFill>
            <a:srgbClr val="C9A227"/>
          </a:solidFill>
          <a:ln w="12700">
            <a:solidFill>
              <a:srgbClr val="333333"/>
            </a:solidFill>
            <a:prstDash val="solid"/>
          </a:ln>
        </p:spPr>
      </p:sp>
      <p:sp>
        <p:nvSpPr>
          <p:cNvPr id="9" name="Text 7"/>
          <p:cNvSpPr/>
          <p:nvPr/>
        </p:nvSpPr>
        <p:spPr>
          <a:xfrm>
            <a:off x="896112" y="3017520"/>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Identify your most profitable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product lines with precision</a:t>
            </a:r>
            <a:endParaRPr lang="en-US" sz="1100" dirty="0"/>
          </a:p>
        </p:txBody>
      </p:sp>
      <p:sp>
        <p:nvSpPr>
          <p:cNvPr id="10" name="Shape 8"/>
          <p:cNvSpPr/>
          <p:nvPr/>
        </p:nvSpPr>
        <p:spPr>
          <a:xfrm>
            <a:off x="530352" y="4059936"/>
            <a:ext cx="274320" cy="274320"/>
          </a:xfrm>
          <a:prstGeom prst="ellipse">
            <a:avLst/>
          </a:prstGeom>
          <a:solidFill>
            <a:srgbClr val="C9A227"/>
          </a:solidFill>
          <a:ln w="12700">
            <a:solidFill>
              <a:srgbClr val="333333"/>
            </a:solidFill>
            <a:prstDash val="solid"/>
          </a:ln>
        </p:spPr>
      </p:sp>
      <p:sp>
        <p:nvSpPr>
          <p:cNvPr id="11" name="Text 9"/>
          <p:cNvSpPr/>
          <p:nvPr/>
        </p:nvSpPr>
        <p:spPr>
          <a:xfrm>
            <a:off x="896112" y="4041648"/>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Spot your best and worst</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customers — by data, not feeling</a:t>
            </a:r>
            <a:endParaRPr lang="en-US" sz="1100" dirty="0"/>
          </a:p>
        </p:txBody>
      </p:sp>
      <p:sp>
        <p:nvSpPr>
          <p:cNvPr id="12" name="Shape 10"/>
          <p:cNvSpPr/>
          <p:nvPr/>
        </p:nvSpPr>
        <p:spPr>
          <a:xfrm>
            <a:off x="3291840" y="1207008"/>
            <a:ext cx="2743200" cy="3566160"/>
          </a:xfrm>
          <a:prstGeom prst="roundRect">
            <a:avLst>
              <a:gd name="adj" fmla="val 3333"/>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429000" y="1353312"/>
            <a:ext cx="2468880" cy="457200"/>
          </a:xfrm>
          <a:prstGeom prst="rect">
            <a:avLst/>
          </a:prstGeom>
          <a:noFill/>
          <a:ln/>
        </p:spPr>
        <p:txBody>
          <a:bodyPr wrap="square" lIns="0" tIns="0" rIns="0" bIns="0" rtlCol="0" anchor="ctr"/>
          <a:lstStyle/>
          <a:p>
            <a:pPr algn="ctr" indent="0" marL="0">
              <a:buNone/>
            </a:pPr>
            <a:r>
              <a:rPr lang="en-US" sz="1800" b="1" dirty="0">
                <a:solidFill>
                  <a:srgbClr val="F0C040"/>
                </a:solidFill>
                <a:latin typeface="Cambria" pitchFamily="34" charset="0"/>
                <a:ea typeface="Cambria" pitchFamily="34" charset="-122"/>
                <a:cs typeface="Cambria" pitchFamily="34" charset="-120"/>
              </a:rPr>
              <a:t>Year 2</a:t>
            </a:r>
            <a:endParaRPr lang="en-US" sz="1800" dirty="0"/>
          </a:p>
        </p:txBody>
      </p:sp>
      <p:sp>
        <p:nvSpPr>
          <p:cNvPr id="14" name="Shape 12"/>
          <p:cNvSpPr/>
          <p:nvPr/>
        </p:nvSpPr>
        <p:spPr>
          <a:xfrm>
            <a:off x="3456432" y="2011680"/>
            <a:ext cx="274320" cy="274320"/>
          </a:xfrm>
          <a:prstGeom prst="ellipse">
            <a:avLst/>
          </a:prstGeom>
          <a:solidFill>
            <a:srgbClr val="C9A227"/>
          </a:solidFill>
          <a:ln w="12700">
            <a:solidFill>
              <a:srgbClr val="333333"/>
            </a:solidFill>
            <a:prstDash val="solid"/>
          </a:ln>
        </p:spPr>
      </p:sp>
      <p:sp>
        <p:nvSpPr>
          <p:cNvPr id="15" name="Text 13"/>
          <p:cNvSpPr/>
          <p:nvPr/>
        </p:nvSpPr>
        <p:spPr>
          <a:xfrm>
            <a:off x="3822192" y="1993392"/>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Understand seasonal patterns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and plan working capital</a:t>
            </a:r>
            <a:endParaRPr lang="en-US" sz="1100" dirty="0"/>
          </a:p>
        </p:txBody>
      </p:sp>
      <p:sp>
        <p:nvSpPr>
          <p:cNvPr id="16" name="Shape 14"/>
          <p:cNvSpPr/>
          <p:nvPr/>
        </p:nvSpPr>
        <p:spPr>
          <a:xfrm>
            <a:off x="3456432" y="3035808"/>
            <a:ext cx="274320" cy="274320"/>
          </a:xfrm>
          <a:prstGeom prst="ellipse">
            <a:avLst/>
          </a:prstGeom>
          <a:solidFill>
            <a:srgbClr val="C9A227"/>
          </a:solidFill>
          <a:ln w="12700">
            <a:solidFill>
              <a:srgbClr val="333333"/>
            </a:solidFill>
            <a:prstDash val="solid"/>
          </a:ln>
        </p:spPr>
      </p:sp>
      <p:sp>
        <p:nvSpPr>
          <p:cNvPr id="17" name="Text 15"/>
          <p:cNvSpPr/>
          <p:nvPr/>
        </p:nvSpPr>
        <p:spPr>
          <a:xfrm>
            <a:off x="3822192" y="3017520"/>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Benchmark branch performance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Kaduna vs Yola vs Maiduguri</a:t>
            </a:r>
            <a:endParaRPr lang="en-US" sz="1100" dirty="0"/>
          </a:p>
        </p:txBody>
      </p:sp>
      <p:sp>
        <p:nvSpPr>
          <p:cNvPr id="18" name="Shape 16"/>
          <p:cNvSpPr/>
          <p:nvPr/>
        </p:nvSpPr>
        <p:spPr>
          <a:xfrm>
            <a:off x="3456432" y="4059936"/>
            <a:ext cx="274320" cy="274320"/>
          </a:xfrm>
          <a:prstGeom prst="ellipse">
            <a:avLst/>
          </a:prstGeom>
          <a:solidFill>
            <a:srgbClr val="C9A227"/>
          </a:solidFill>
          <a:ln w="12700">
            <a:solidFill>
              <a:srgbClr val="333333"/>
            </a:solidFill>
            <a:prstDash val="solid"/>
          </a:ln>
        </p:spPr>
      </p:sp>
      <p:sp>
        <p:nvSpPr>
          <p:cNvPr id="19" name="Text 17"/>
          <p:cNvSpPr/>
          <p:nvPr/>
        </p:nvSpPr>
        <p:spPr>
          <a:xfrm>
            <a:off x="3822192" y="4041648"/>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Forecast coil procurement</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based on historic consumption</a:t>
            </a:r>
            <a:endParaRPr lang="en-US" sz="1100" dirty="0"/>
          </a:p>
        </p:txBody>
      </p:sp>
      <p:sp>
        <p:nvSpPr>
          <p:cNvPr id="20" name="Shape 18"/>
          <p:cNvSpPr/>
          <p:nvPr/>
        </p:nvSpPr>
        <p:spPr>
          <a:xfrm>
            <a:off x="6217920" y="1207008"/>
            <a:ext cx="2743200" cy="3566160"/>
          </a:xfrm>
          <a:prstGeom prst="roundRect">
            <a:avLst>
              <a:gd name="adj" fmla="val 3333"/>
            </a:avLst>
          </a:prstGeom>
          <a:solidFill>
            <a:srgbClr val="0A1628"/>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6355080" y="1353312"/>
            <a:ext cx="2468880" cy="457200"/>
          </a:xfrm>
          <a:prstGeom prst="rect">
            <a:avLst/>
          </a:prstGeom>
          <a:noFill/>
          <a:ln/>
        </p:spPr>
        <p:txBody>
          <a:bodyPr wrap="square" lIns="0" tIns="0" rIns="0" bIns="0" rtlCol="0" anchor="ctr"/>
          <a:lstStyle/>
          <a:p>
            <a:pPr algn="ctr" indent="0" marL="0">
              <a:buNone/>
            </a:pPr>
            <a:r>
              <a:rPr lang="en-US" sz="1800" b="1" dirty="0">
                <a:solidFill>
                  <a:srgbClr val="F0C040"/>
                </a:solidFill>
                <a:latin typeface="Cambria" pitchFamily="34" charset="0"/>
                <a:ea typeface="Cambria" pitchFamily="34" charset="-122"/>
                <a:cs typeface="Cambria" pitchFamily="34" charset="-120"/>
              </a:rPr>
              <a:t>Year 3+</a:t>
            </a:r>
            <a:endParaRPr lang="en-US" sz="1800" dirty="0"/>
          </a:p>
        </p:txBody>
      </p:sp>
      <p:sp>
        <p:nvSpPr>
          <p:cNvPr id="22" name="Shape 20"/>
          <p:cNvSpPr/>
          <p:nvPr/>
        </p:nvSpPr>
        <p:spPr>
          <a:xfrm>
            <a:off x="6382512" y="2011680"/>
            <a:ext cx="274320" cy="274320"/>
          </a:xfrm>
          <a:prstGeom prst="ellipse">
            <a:avLst/>
          </a:prstGeom>
          <a:solidFill>
            <a:srgbClr val="C9A227"/>
          </a:solidFill>
          <a:ln w="12700">
            <a:solidFill>
              <a:srgbClr val="333333"/>
            </a:solidFill>
            <a:prstDash val="solid"/>
          </a:ln>
        </p:spPr>
      </p:sp>
      <p:sp>
        <p:nvSpPr>
          <p:cNvPr id="23" name="Text 21"/>
          <p:cNvSpPr/>
          <p:nvPr/>
        </p:nvSpPr>
        <p:spPr>
          <a:xfrm>
            <a:off x="6748272" y="1993392"/>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Negotiate supplier credit terms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backed by 3 years of purchase data</a:t>
            </a:r>
            <a:endParaRPr lang="en-US" sz="1100" dirty="0"/>
          </a:p>
        </p:txBody>
      </p:sp>
      <p:sp>
        <p:nvSpPr>
          <p:cNvPr id="24" name="Shape 22"/>
          <p:cNvSpPr/>
          <p:nvPr/>
        </p:nvSpPr>
        <p:spPr>
          <a:xfrm>
            <a:off x="6382512" y="3035808"/>
            <a:ext cx="274320" cy="274320"/>
          </a:xfrm>
          <a:prstGeom prst="ellipse">
            <a:avLst/>
          </a:prstGeom>
          <a:solidFill>
            <a:srgbClr val="C9A227"/>
          </a:solidFill>
          <a:ln w="12700">
            <a:solidFill>
              <a:srgbClr val="333333"/>
            </a:solidFill>
            <a:prstDash val="solid"/>
          </a:ln>
        </p:spPr>
      </p:sp>
      <p:sp>
        <p:nvSpPr>
          <p:cNvPr id="25" name="Text 23"/>
          <p:cNvSpPr/>
          <p:nvPr/>
        </p:nvSpPr>
        <p:spPr>
          <a:xfrm>
            <a:off x="6748272" y="3017520"/>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Apply for bank facilities with</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audited-equivalent records</a:t>
            </a:r>
            <a:endParaRPr lang="en-US" sz="1100" dirty="0"/>
          </a:p>
        </p:txBody>
      </p:sp>
      <p:sp>
        <p:nvSpPr>
          <p:cNvPr id="26" name="Shape 24"/>
          <p:cNvSpPr/>
          <p:nvPr/>
        </p:nvSpPr>
        <p:spPr>
          <a:xfrm>
            <a:off x="6382512" y="4059936"/>
            <a:ext cx="274320" cy="274320"/>
          </a:xfrm>
          <a:prstGeom prst="ellipse">
            <a:avLst/>
          </a:prstGeom>
          <a:solidFill>
            <a:srgbClr val="C9A227"/>
          </a:solidFill>
          <a:ln w="12700">
            <a:solidFill>
              <a:srgbClr val="333333"/>
            </a:solidFill>
            <a:prstDash val="solid"/>
          </a:ln>
        </p:spPr>
      </p:sp>
      <p:sp>
        <p:nvSpPr>
          <p:cNvPr id="27" name="Text 25"/>
          <p:cNvSpPr/>
          <p:nvPr/>
        </p:nvSpPr>
        <p:spPr>
          <a:xfrm>
            <a:off x="6748272" y="4041648"/>
            <a:ext cx="2084832" cy="8686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Attract partners and investors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who see a documented business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BEYOND THE OFFICE</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What a documented, system-run business unlocks</a:t>
            </a:r>
            <a:endParaRPr lang="en-US" sz="2400" dirty="0"/>
          </a:p>
        </p:txBody>
      </p:sp>
      <p:sp>
        <p:nvSpPr>
          <p:cNvPr id="4" name="Shape 2"/>
          <p:cNvSpPr/>
          <p:nvPr/>
        </p:nvSpPr>
        <p:spPr>
          <a:xfrm>
            <a:off x="365760" y="1207008"/>
            <a:ext cx="3977640" cy="1627632"/>
          </a:xfrm>
          <a:prstGeom prst="roundRect">
            <a:avLst>
              <a:gd name="adj" fmla="val 5618"/>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30352" y="1344168"/>
            <a:ext cx="3566160" cy="411480"/>
          </a:xfrm>
          <a:prstGeom prst="rect">
            <a:avLst/>
          </a:prstGeom>
          <a:noFill/>
          <a:ln/>
        </p:spPr>
        <p:txBody>
          <a:bodyPr wrap="square" lIns="0" tIns="0" rIns="0" bIns="0" rtlCol="0" anchor="ctr"/>
          <a:lstStyle/>
          <a:p>
            <a:pPr indent="0" marL="0">
              <a:buNone/>
            </a:pPr>
            <a:r>
              <a:rPr lang="en-US" sz="1500" b="1" dirty="0">
                <a:solidFill>
                  <a:srgbClr val="F0C040"/>
                </a:solidFill>
                <a:latin typeface="Calibri" pitchFamily="34" charset="0"/>
                <a:ea typeface="Calibri" pitchFamily="34" charset="-122"/>
                <a:cs typeface="Calibri" pitchFamily="34" charset="-120"/>
              </a:rPr>
              <a:t>🏛  Bank Financing</a:t>
            </a:r>
            <a:endParaRPr lang="en-US" sz="1500" dirty="0"/>
          </a:p>
        </p:txBody>
      </p:sp>
      <p:sp>
        <p:nvSpPr>
          <p:cNvPr id="6" name="Text 4"/>
          <p:cNvSpPr/>
          <p:nvPr/>
        </p:nvSpPr>
        <p:spPr>
          <a:xfrm>
            <a:off x="530352" y="1801368"/>
            <a:ext cx="3566160" cy="9144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Show 3 years of verifiable revenue, receivables, and cash flow. Banks lend to businesses they can read. Zarewa can now be read.</a:t>
            </a:r>
            <a:endParaRPr lang="en-US" sz="1200" dirty="0"/>
          </a:p>
        </p:txBody>
      </p:sp>
      <p:sp>
        <p:nvSpPr>
          <p:cNvPr id="7" name="Shape 5"/>
          <p:cNvSpPr/>
          <p:nvPr/>
        </p:nvSpPr>
        <p:spPr>
          <a:xfrm>
            <a:off x="4800600" y="1207008"/>
            <a:ext cx="3977640" cy="1627632"/>
          </a:xfrm>
          <a:prstGeom prst="roundRect">
            <a:avLst>
              <a:gd name="adj" fmla="val 5618"/>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965192" y="1344168"/>
            <a:ext cx="3566160" cy="411480"/>
          </a:xfrm>
          <a:prstGeom prst="rect">
            <a:avLst/>
          </a:prstGeom>
          <a:noFill/>
          <a:ln/>
        </p:spPr>
        <p:txBody>
          <a:bodyPr wrap="square" lIns="0" tIns="0" rIns="0" bIns="0" rtlCol="0" anchor="ctr"/>
          <a:lstStyle/>
          <a:p>
            <a:pPr indent="0" marL="0">
              <a:buNone/>
            </a:pPr>
            <a:r>
              <a:rPr lang="en-US" sz="1500" b="1" dirty="0">
                <a:solidFill>
                  <a:srgbClr val="F0C040"/>
                </a:solidFill>
                <a:latin typeface="Calibri" pitchFamily="34" charset="0"/>
                <a:ea typeface="Calibri" pitchFamily="34" charset="-122"/>
                <a:cs typeface="Calibri" pitchFamily="34" charset="-120"/>
              </a:rPr>
              <a:t>🤝  Supplier Leverage</a:t>
            </a:r>
            <a:endParaRPr lang="en-US" sz="1500" dirty="0"/>
          </a:p>
        </p:txBody>
      </p:sp>
      <p:sp>
        <p:nvSpPr>
          <p:cNvPr id="9" name="Text 7"/>
          <p:cNvSpPr/>
          <p:nvPr/>
        </p:nvSpPr>
        <p:spPr>
          <a:xfrm>
            <a:off x="4965192" y="1801368"/>
            <a:ext cx="3566160" cy="9144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Arrive at supplier meetings with 12 months of purchase history and GRN-to-payment turnaround data. Earn better credit terms and priority allocation.</a:t>
            </a:r>
            <a:endParaRPr lang="en-US" sz="1200" dirty="0"/>
          </a:p>
        </p:txBody>
      </p:sp>
      <p:sp>
        <p:nvSpPr>
          <p:cNvPr id="10" name="Shape 8"/>
          <p:cNvSpPr/>
          <p:nvPr/>
        </p:nvSpPr>
        <p:spPr>
          <a:xfrm>
            <a:off x="365760" y="3035808"/>
            <a:ext cx="3977640" cy="1627632"/>
          </a:xfrm>
          <a:prstGeom prst="roundRect">
            <a:avLst>
              <a:gd name="adj" fmla="val 5618"/>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30352" y="3172968"/>
            <a:ext cx="3566160" cy="411480"/>
          </a:xfrm>
          <a:prstGeom prst="rect">
            <a:avLst/>
          </a:prstGeom>
          <a:noFill/>
          <a:ln/>
        </p:spPr>
        <p:txBody>
          <a:bodyPr wrap="square" lIns="0" tIns="0" rIns="0" bIns="0" rtlCol="0" anchor="ctr"/>
          <a:lstStyle/>
          <a:p>
            <a:pPr indent="0" marL="0">
              <a:buNone/>
            </a:pPr>
            <a:r>
              <a:rPr lang="en-US" sz="1500" b="1" dirty="0">
                <a:solidFill>
                  <a:srgbClr val="F0C040"/>
                </a:solidFill>
                <a:latin typeface="Calibri" pitchFamily="34" charset="0"/>
                <a:ea typeface="Calibri" pitchFamily="34" charset="-122"/>
                <a:cs typeface="Calibri" pitchFamily="34" charset="-120"/>
              </a:rPr>
              <a:t>📊  Customer Confidence</a:t>
            </a:r>
            <a:endParaRPr lang="en-US" sz="1500" dirty="0"/>
          </a:p>
        </p:txBody>
      </p:sp>
      <p:sp>
        <p:nvSpPr>
          <p:cNvPr id="12" name="Text 10"/>
          <p:cNvSpPr/>
          <p:nvPr/>
        </p:nvSpPr>
        <p:spPr>
          <a:xfrm>
            <a:off x="530352" y="3630168"/>
            <a:ext cx="3566160" cy="9144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"When is my order?" takes 30 seconds in the system, not 40 minutes of calls. Professional speed wins and retains contractors and developers.</a:t>
            </a:r>
            <a:endParaRPr lang="en-US" sz="1200" dirty="0"/>
          </a:p>
        </p:txBody>
      </p:sp>
      <p:sp>
        <p:nvSpPr>
          <p:cNvPr id="13" name="Shape 11"/>
          <p:cNvSpPr/>
          <p:nvPr/>
        </p:nvSpPr>
        <p:spPr>
          <a:xfrm>
            <a:off x="4800600" y="3035808"/>
            <a:ext cx="3977640" cy="1627632"/>
          </a:xfrm>
          <a:prstGeom prst="roundRect">
            <a:avLst>
              <a:gd name="adj" fmla="val 5618"/>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965192" y="3172968"/>
            <a:ext cx="3566160" cy="411480"/>
          </a:xfrm>
          <a:prstGeom prst="rect">
            <a:avLst/>
          </a:prstGeom>
          <a:noFill/>
          <a:ln/>
        </p:spPr>
        <p:txBody>
          <a:bodyPr wrap="square" lIns="0" tIns="0" rIns="0" bIns="0" rtlCol="0" anchor="ctr"/>
          <a:lstStyle/>
          <a:p>
            <a:pPr indent="0" marL="0">
              <a:buNone/>
            </a:pPr>
            <a:r>
              <a:rPr lang="en-US" sz="1500" b="1" dirty="0">
                <a:solidFill>
                  <a:srgbClr val="F0C040"/>
                </a:solidFill>
                <a:latin typeface="Calibri" pitchFamily="34" charset="0"/>
                <a:ea typeface="Calibri" pitchFamily="34" charset="-122"/>
                <a:cs typeface="Calibri" pitchFamily="34" charset="-120"/>
              </a:rPr>
              <a:t>🏛  Regulatory Readiness</a:t>
            </a:r>
            <a:endParaRPr lang="en-US" sz="1500" dirty="0"/>
          </a:p>
        </p:txBody>
      </p:sp>
      <p:sp>
        <p:nvSpPr>
          <p:cNvPr id="15" name="Text 13"/>
          <p:cNvSpPr/>
          <p:nvPr/>
        </p:nvSpPr>
        <p:spPr>
          <a:xfrm>
            <a:off x="4965192" y="3630168"/>
            <a:ext cx="3566160" cy="9144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PAYE, pension deductions, and statutory records are generated by the payroll module. A tax audit or FIRS inspection finds everything in order.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82880"/>
            <a:ext cx="82296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GROWTH FRAMEWORK</a:t>
            </a:r>
            <a:endParaRPr lang="en-US" sz="1000" dirty="0"/>
          </a:p>
        </p:txBody>
      </p:sp>
      <p:sp>
        <p:nvSpPr>
          <p:cNvPr id="3" name="Text 1"/>
          <p:cNvSpPr/>
          <p:nvPr/>
        </p:nvSpPr>
        <p:spPr>
          <a:xfrm>
            <a:off x="457200" y="548640"/>
            <a:ext cx="8229600" cy="475488"/>
          </a:xfrm>
          <a:prstGeom prst="rect">
            <a:avLst/>
          </a:prstGeom>
          <a:noFill/>
          <a:ln/>
        </p:spPr>
        <p:txBody>
          <a:bodyPr wrap="square" lIns="0" tIns="0" rIns="0" bIns="0" rtlCol="0" anchor="ctr"/>
          <a:lstStyle/>
          <a:p>
            <a:pPr indent="0" marL="0">
              <a:buNone/>
            </a:pPr>
            <a:r>
              <a:rPr lang="en-US" sz="2400" b="1" dirty="0">
                <a:solidFill>
                  <a:srgbClr val="1A1A2E"/>
                </a:solidFill>
                <a:latin typeface="Cambria" pitchFamily="34" charset="0"/>
                <a:ea typeface="Cambria" pitchFamily="34" charset="-122"/>
                <a:cs typeface="Cambria" pitchFamily="34" charset="-120"/>
              </a:rPr>
              <a:t>From 3 branches to 6 — the system is already ready</a:t>
            </a:r>
            <a:endParaRPr lang="en-US" sz="2400" dirty="0"/>
          </a:p>
        </p:txBody>
      </p:sp>
      <p:sp>
        <p:nvSpPr>
          <p:cNvPr id="4" name="Shape 2"/>
          <p:cNvSpPr/>
          <p:nvPr/>
        </p:nvSpPr>
        <p:spPr>
          <a:xfrm>
            <a:off x="365760" y="1188720"/>
            <a:ext cx="3931920" cy="3611880"/>
          </a:xfrm>
          <a:prstGeom prst="roundRect">
            <a:avLst>
              <a:gd name="adj" fmla="val 2532"/>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325880"/>
            <a:ext cx="3657600" cy="4572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Today: 3 Branches</a:t>
            </a:r>
            <a:endParaRPr lang="en-US" sz="2000" dirty="0"/>
          </a:p>
        </p:txBody>
      </p:sp>
      <p:sp>
        <p:nvSpPr>
          <p:cNvPr id="6" name="Shape 4"/>
          <p:cNvSpPr/>
          <p:nvPr/>
        </p:nvSpPr>
        <p:spPr>
          <a:xfrm>
            <a:off x="594360" y="2011680"/>
            <a:ext cx="292608" cy="292608"/>
          </a:xfrm>
          <a:prstGeom prst="ellipse">
            <a:avLst/>
          </a:prstGeom>
          <a:solidFill>
            <a:srgbClr val="C9A227"/>
          </a:solidFill>
          <a:ln w="12700">
            <a:solidFill>
              <a:srgbClr val="333333"/>
            </a:solidFill>
            <a:prstDash val="solid"/>
          </a:ln>
        </p:spPr>
      </p:sp>
      <p:sp>
        <p:nvSpPr>
          <p:cNvPr id="7" name="Text 5"/>
          <p:cNvSpPr/>
          <p:nvPr/>
        </p:nvSpPr>
        <p:spPr>
          <a:xfrm>
            <a:off x="1005840" y="1993392"/>
            <a:ext cx="32004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Kaduna HQ — Sales &amp; Administration</a:t>
            </a:r>
            <a:endParaRPr lang="en-US" sz="1300" dirty="0"/>
          </a:p>
        </p:txBody>
      </p:sp>
      <p:sp>
        <p:nvSpPr>
          <p:cNvPr id="8" name="Shape 6"/>
          <p:cNvSpPr/>
          <p:nvPr/>
        </p:nvSpPr>
        <p:spPr>
          <a:xfrm>
            <a:off x="594360" y="2761488"/>
            <a:ext cx="292608" cy="292608"/>
          </a:xfrm>
          <a:prstGeom prst="ellipse">
            <a:avLst/>
          </a:prstGeom>
          <a:solidFill>
            <a:srgbClr val="C9A227"/>
          </a:solidFill>
          <a:ln w="12700">
            <a:solidFill>
              <a:srgbClr val="333333"/>
            </a:solidFill>
            <a:prstDash val="solid"/>
          </a:ln>
        </p:spPr>
      </p:sp>
      <p:sp>
        <p:nvSpPr>
          <p:cNvPr id="9" name="Text 7"/>
          <p:cNvSpPr/>
          <p:nvPr/>
        </p:nvSpPr>
        <p:spPr>
          <a:xfrm>
            <a:off x="1005840" y="2743200"/>
            <a:ext cx="32004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Yola Factory — Manufacturing</a:t>
            </a:r>
            <a:endParaRPr lang="en-US" sz="1300" dirty="0"/>
          </a:p>
        </p:txBody>
      </p:sp>
      <p:sp>
        <p:nvSpPr>
          <p:cNvPr id="10" name="Shape 8"/>
          <p:cNvSpPr/>
          <p:nvPr/>
        </p:nvSpPr>
        <p:spPr>
          <a:xfrm>
            <a:off x="594360" y="3511296"/>
            <a:ext cx="292608" cy="292608"/>
          </a:xfrm>
          <a:prstGeom prst="ellipse">
            <a:avLst/>
          </a:prstGeom>
          <a:solidFill>
            <a:srgbClr val="C9A227"/>
          </a:solidFill>
          <a:ln w="12700">
            <a:solidFill>
              <a:srgbClr val="333333"/>
            </a:solidFill>
            <a:prstDash val="solid"/>
          </a:ln>
        </p:spPr>
      </p:sp>
      <p:sp>
        <p:nvSpPr>
          <p:cNvPr id="11" name="Text 9"/>
          <p:cNvSpPr/>
          <p:nvPr/>
        </p:nvSpPr>
        <p:spPr>
          <a:xfrm>
            <a:off x="1005840" y="3493008"/>
            <a:ext cx="32004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Maiduguri Factory — Manufacturing</a:t>
            </a:r>
            <a:endParaRPr lang="en-US" sz="1300" dirty="0"/>
          </a:p>
        </p:txBody>
      </p:sp>
      <p:sp>
        <p:nvSpPr>
          <p:cNvPr id="12" name="Shape 10"/>
          <p:cNvSpPr/>
          <p:nvPr/>
        </p:nvSpPr>
        <p:spPr>
          <a:xfrm>
            <a:off x="4800600" y="1188720"/>
            <a:ext cx="3977640" cy="3611880"/>
          </a:xfrm>
          <a:prstGeom prst="roundRect">
            <a:avLst>
              <a:gd name="adj" fmla="val 2532"/>
            </a:avLst>
          </a:prstGeom>
          <a:solidFill>
            <a:srgbClr val="0D1F3C"/>
          </a:solidFill>
          <a:ln w="12700">
            <a:solidFill>
              <a:srgbClr val="333333"/>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937760" y="1325880"/>
            <a:ext cx="3657600" cy="457200"/>
          </a:xfrm>
          <a:prstGeom prst="rect">
            <a:avLst/>
          </a:prstGeom>
          <a:noFill/>
          <a:ln/>
        </p:spPr>
        <p:txBody>
          <a:bodyPr wrap="square" lIns="0" tIns="0" rIns="0" bIns="0" rtlCol="0" anchor="ctr"/>
          <a:lstStyle/>
          <a:p>
            <a:pPr indent="0" marL="0">
              <a:buNone/>
            </a:pPr>
            <a:r>
              <a:rPr lang="en-US" sz="2000" b="1" dirty="0">
                <a:solidFill>
                  <a:srgbClr val="F0C040"/>
                </a:solidFill>
                <a:latin typeface="Cambria" pitchFamily="34" charset="0"/>
                <a:ea typeface="Cambria" pitchFamily="34" charset="-122"/>
                <a:cs typeface="Cambria" pitchFamily="34" charset="-120"/>
              </a:rPr>
              <a:t>Tomorrow: Any Number</a:t>
            </a:r>
            <a:endParaRPr lang="en-US" sz="2000" dirty="0"/>
          </a:p>
        </p:txBody>
      </p:sp>
      <p:sp>
        <p:nvSpPr>
          <p:cNvPr id="14" name="Shape 12"/>
          <p:cNvSpPr/>
          <p:nvPr/>
        </p:nvSpPr>
        <p:spPr>
          <a:xfrm>
            <a:off x="4983480" y="2011680"/>
            <a:ext cx="256032" cy="256032"/>
          </a:xfrm>
          <a:prstGeom prst="ellipse">
            <a:avLst/>
          </a:prstGeom>
          <a:solidFill>
            <a:srgbClr val="C9A227"/>
          </a:solidFill>
          <a:ln w="12700">
            <a:solidFill>
              <a:srgbClr val="333333"/>
            </a:solidFill>
            <a:prstDash val="solid"/>
          </a:ln>
        </p:spPr>
      </p:sp>
      <p:sp>
        <p:nvSpPr>
          <p:cNvPr id="15" name="Text 13"/>
          <p:cNvSpPr/>
          <p:nvPr/>
        </p:nvSpPr>
        <p:spPr>
          <a:xfrm>
            <a:off x="5349240" y="1975104"/>
            <a:ext cx="32918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New branch: create in system, assign roles, done</a:t>
            </a:r>
            <a:endParaRPr lang="en-US" sz="1200" dirty="0"/>
          </a:p>
        </p:txBody>
      </p:sp>
      <p:sp>
        <p:nvSpPr>
          <p:cNvPr id="16" name="Shape 14"/>
          <p:cNvSpPr/>
          <p:nvPr/>
        </p:nvSpPr>
        <p:spPr>
          <a:xfrm>
            <a:off x="4983480" y="2578608"/>
            <a:ext cx="256032" cy="256032"/>
          </a:xfrm>
          <a:prstGeom prst="ellipse">
            <a:avLst/>
          </a:prstGeom>
          <a:solidFill>
            <a:srgbClr val="C9A227"/>
          </a:solidFill>
          <a:ln w="12700">
            <a:solidFill>
              <a:srgbClr val="333333"/>
            </a:solidFill>
            <a:prstDash val="solid"/>
          </a:ln>
        </p:spPr>
      </p:sp>
      <p:sp>
        <p:nvSpPr>
          <p:cNvPr id="17" name="Text 15"/>
          <p:cNvSpPr/>
          <p:nvPr/>
        </p:nvSpPr>
        <p:spPr>
          <a:xfrm>
            <a:off x="5349240" y="2542032"/>
            <a:ext cx="32918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Same SOPs apply immediately — zero re-training gap</a:t>
            </a:r>
            <a:endParaRPr lang="en-US" sz="1200" dirty="0"/>
          </a:p>
        </p:txBody>
      </p:sp>
      <p:sp>
        <p:nvSpPr>
          <p:cNvPr id="18" name="Shape 16"/>
          <p:cNvSpPr/>
          <p:nvPr/>
        </p:nvSpPr>
        <p:spPr>
          <a:xfrm>
            <a:off x="4983480" y="3145536"/>
            <a:ext cx="256032" cy="256032"/>
          </a:xfrm>
          <a:prstGeom prst="ellipse">
            <a:avLst/>
          </a:prstGeom>
          <a:solidFill>
            <a:srgbClr val="C9A227"/>
          </a:solidFill>
          <a:ln w="12700">
            <a:solidFill>
              <a:srgbClr val="333333"/>
            </a:solidFill>
            <a:prstDash val="solid"/>
          </a:ln>
        </p:spPr>
      </p:sp>
      <p:sp>
        <p:nvSpPr>
          <p:cNvPr id="19" name="Text 17"/>
          <p:cNvSpPr/>
          <p:nvPr/>
        </p:nvSpPr>
        <p:spPr>
          <a:xfrm>
            <a:off x="5349240" y="3108960"/>
            <a:ext cx="32918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MD sees all branches in one Command Centre view</a:t>
            </a:r>
            <a:endParaRPr lang="en-US" sz="1200" dirty="0"/>
          </a:p>
        </p:txBody>
      </p:sp>
      <p:sp>
        <p:nvSpPr>
          <p:cNvPr id="20" name="Shape 18"/>
          <p:cNvSpPr/>
          <p:nvPr/>
        </p:nvSpPr>
        <p:spPr>
          <a:xfrm>
            <a:off x="4983480" y="3712464"/>
            <a:ext cx="256032" cy="256032"/>
          </a:xfrm>
          <a:prstGeom prst="ellipse">
            <a:avLst/>
          </a:prstGeom>
          <a:solidFill>
            <a:srgbClr val="C9A227"/>
          </a:solidFill>
          <a:ln w="12700">
            <a:solidFill>
              <a:srgbClr val="333333"/>
            </a:solidFill>
            <a:prstDash val="solid"/>
          </a:ln>
        </p:spPr>
      </p:sp>
      <p:sp>
        <p:nvSpPr>
          <p:cNvPr id="21" name="Text 19"/>
          <p:cNvSpPr/>
          <p:nvPr/>
        </p:nvSpPr>
        <p:spPr>
          <a:xfrm>
            <a:off x="5349240" y="3675888"/>
            <a:ext cx="32918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Finance consolidates across branches automatically</a:t>
            </a:r>
            <a:endParaRPr lang="en-US" sz="1200" dirty="0"/>
          </a:p>
        </p:txBody>
      </p:sp>
      <p:sp>
        <p:nvSpPr>
          <p:cNvPr id="22" name="Shape 20"/>
          <p:cNvSpPr/>
          <p:nvPr/>
        </p:nvSpPr>
        <p:spPr>
          <a:xfrm>
            <a:off x="4983480" y="4279392"/>
            <a:ext cx="256032" cy="256032"/>
          </a:xfrm>
          <a:prstGeom prst="ellipse">
            <a:avLst/>
          </a:prstGeom>
          <a:solidFill>
            <a:srgbClr val="C9A227"/>
          </a:solidFill>
          <a:ln w="12700">
            <a:solidFill>
              <a:srgbClr val="333333"/>
            </a:solidFill>
            <a:prstDash val="solid"/>
          </a:ln>
        </p:spPr>
      </p:sp>
      <p:sp>
        <p:nvSpPr>
          <p:cNvPr id="23" name="Text 21"/>
          <p:cNvSpPr/>
          <p:nvPr/>
        </p:nvSpPr>
        <p:spPr>
          <a:xfrm>
            <a:off x="5349240" y="4242816"/>
            <a:ext cx="32918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payroll system, one HR record, one audit trail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1E4D8C">
              <a:alpha val="35000"/>
            </a:srgbClr>
          </a:solidFill>
          <a:ln w="12700">
            <a:solidFill>
              <a:srgbClr val="333333"/>
            </a:solidFill>
            <a:prstDash val="solid"/>
          </a:ln>
        </p:spPr>
      </p:sp>
      <p:sp>
        <p:nvSpPr>
          <p:cNvPr id="3" name="Shape 1"/>
          <p:cNvSpPr/>
          <p:nvPr/>
        </p:nvSpPr>
        <p:spPr>
          <a:xfrm>
            <a:off x="-1371600" y="2926080"/>
            <a:ext cx="3200400" cy="3200400"/>
          </a:xfrm>
          <a:prstGeom prst="ellipse">
            <a:avLst/>
          </a:prstGeom>
          <a:solidFill>
            <a:srgbClr val="C9A227">
              <a:alpha val="15000"/>
            </a:srgbClr>
          </a:solidFill>
          <a:ln w="12700">
            <a:solidFill>
              <a:srgbClr val="333333"/>
            </a:solidFill>
            <a:prstDash val="solid"/>
          </a:ln>
        </p:spPr>
      </p:sp>
      <p:sp>
        <p:nvSpPr>
          <p:cNvPr id="4" name="Text 2"/>
          <p:cNvSpPr/>
          <p:nvPr/>
        </p:nvSpPr>
        <p:spPr>
          <a:xfrm>
            <a:off x="640080" y="411480"/>
            <a:ext cx="7863840" cy="347472"/>
          </a:xfrm>
          <a:prstGeom prst="rect">
            <a:avLst/>
          </a:prstGeom>
          <a:noFill/>
          <a:ln/>
        </p:spPr>
        <p:txBody>
          <a:bodyPr wrap="square" lIns="0" tIns="0" rIns="0" bIns="0" rtlCol="0" anchor="ctr"/>
          <a:lstStyle/>
          <a:p>
            <a:pPr indent="0" marL="0">
              <a:buNone/>
            </a:pPr>
            <a:r>
              <a:rPr lang="en-US" sz="1100" b="1" spc="400" kern="0" dirty="0">
                <a:solidFill>
                  <a:srgbClr val="F0C040"/>
                </a:solidFill>
                <a:latin typeface="Calibri" pitchFamily="34" charset="0"/>
                <a:ea typeface="Calibri" pitchFamily="34" charset="-122"/>
                <a:cs typeface="Calibri" pitchFamily="34" charset="-120"/>
              </a:rPr>
              <a:t>THE DOCUMENTATION</a:t>
            </a:r>
            <a:endParaRPr lang="en-US" sz="1100" dirty="0"/>
          </a:p>
        </p:txBody>
      </p:sp>
      <p:sp>
        <p:nvSpPr>
          <p:cNvPr id="5" name="Text 3"/>
          <p:cNvSpPr/>
          <p:nvPr/>
        </p:nvSpPr>
        <p:spPr>
          <a:xfrm>
            <a:off x="640080" y="1005840"/>
            <a:ext cx="7772400" cy="20116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30,788 words.</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20 documents.</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Every process, every role, every procedure.</a:t>
            </a:r>
            <a:endParaRPr lang="en-US" sz="3600" dirty="0"/>
          </a:p>
        </p:txBody>
      </p:sp>
      <p:sp>
        <p:nvSpPr>
          <p:cNvPr id="6" name="Text 4"/>
          <p:cNvSpPr/>
          <p:nvPr/>
        </p:nvSpPr>
        <p:spPr>
          <a:xfrm>
            <a:off x="640080" y="3154680"/>
            <a:ext cx="7498080" cy="1005840"/>
          </a:xfrm>
          <a:prstGeom prst="rect">
            <a:avLst/>
          </a:prstGeom>
          <a:noFill/>
          <a:ln/>
        </p:spPr>
        <p:txBody>
          <a:bodyPr wrap="square" lIns="0" tIns="0" rIns="0" bIns="0" rtlCol="0" anchor="ctr"/>
          <a:lstStyle/>
          <a:p>
            <a:pPr algn="l" indent="0" marL="0">
              <a:buNone/>
            </a:pPr>
            <a:r>
              <a:rPr lang="en-US" sz="1400" dirty="0">
                <a:solidFill>
                  <a:srgbClr val="B8CCE8"/>
                </a:solidFill>
                <a:latin typeface="Calibri" pitchFamily="34" charset="0"/>
                <a:ea typeface="Calibri" pitchFamily="34" charset="-122"/>
                <a:cs typeface="Calibri" pitchFamily="34" charset="-120"/>
              </a:rPr>
              <a:t>From the quotation a sales officer creates on Day 1, to the 5-stage exit clearance when a staff member resigns — it is all written down. This is institutional knowledge. It belongs to Zarewa — not to any individual.</a:t>
            </a:r>
            <a:endParaRPr lang="en-US" sz="1400" dirty="0"/>
          </a:p>
        </p:txBody>
      </p:sp>
      <p:sp>
        <p:nvSpPr>
          <p:cNvPr id="7" name="Text 5"/>
          <p:cNvSpPr/>
          <p:nvPr/>
        </p:nvSpPr>
        <p:spPr>
          <a:xfrm>
            <a:off x="640080" y="4434840"/>
            <a:ext cx="7315200" cy="347472"/>
          </a:xfrm>
          <a:prstGeom prst="rect">
            <a:avLst/>
          </a:prstGeom>
          <a:noFill/>
          <a:ln/>
        </p:spPr>
        <p:txBody>
          <a:bodyPr wrap="square" lIns="0" tIns="0" rIns="0" bIns="0" rtlCol="0" anchor="ctr"/>
          <a:lstStyle/>
          <a:p>
            <a:pPr indent="0" marL="0">
              <a:buNone/>
            </a:pPr>
            <a:r>
              <a:rPr lang="en-US" sz="1500" b="1" dirty="0">
                <a:solidFill>
                  <a:srgbClr val="F0C040"/>
                </a:solidFill>
                <a:latin typeface="Calibri" pitchFamily="34" charset="0"/>
                <a:ea typeface="Calibri" pitchFamily="34" charset="-122"/>
                <a:cs typeface="Calibri" pitchFamily="34" charset="-120"/>
              </a:rPr>
              <a:t>The business now knows how to run itself.</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498080" y="-457200"/>
            <a:ext cx="3200400" cy="3200400"/>
          </a:xfrm>
          <a:prstGeom prst="ellipse">
            <a:avLst/>
          </a:prstGeom>
          <a:solidFill>
            <a:srgbClr val="C9A227">
              <a:alpha val="12000"/>
            </a:srgbClr>
          </a:solidFill>
          <a:ln w="12700">
            <a:solidFill>
              <a:srgbClr val="333333"/>
            </a:solidFill>
            <a:prstDash val="solid"/>
          </a:ln>
        </p:spPr>
      </p:sp>
      <p:sp>
        <p:nvSpPr>
          <p:cNvPr id="3" name="Text 1"/>
          <p:cNvSpPr/>
          <p:nvPr/>
        </p:nvSpPr>
        <p:spPr>
          <a:xfrm>
            <a:off x="640080" y="411480"/>
            <a:ext cx="7863840" cy="347472"/>
          </a:xfrm>
          <a:prstGeom prst="rect">
            <a:avLst/>
          </a:prstGeom>
          <a:noFill/>
          <a:ln/>
        </p:spPr>
        <p:txBody>
          <a:bodyPr wrap="square" lIns="0" tIns="0" rIns="0" bIns="0" rtlCol="0" anchor="ctr"/>
          <a:lstStyle/>
          <a:p>
            <a:pPr indent="0" marL="0">
              <a:buNone/>
            </a:pPr>
            <a:r>
              <a:rPr lang="en-US" sz="1100" b="1" spc="400" kern="0" dirty="0">
                <a:solidFill>
                  <a:srgbClr val="F0C040"/>
                </a:solidFill>
                <a:latin typeface="Calibri" pitchFamily="34" charset="0"/>
                <a:ea typeface="Calibri" pitchFamily="34" charset="-122"/>
                <a:cs typeface="Calibri" pitchFamily="34" charset="-120"/>
              </a:rPr>
              <a:t>WHAT COMES NEXT</a:t>
            </a:r>
            <a:endParaRPr lang="en-US" sz="1100" dirty="0"/>
          </a:p>
        </p:txBody>
      </p:sp>
      <p:sp>
        <p:nvSpPr>
          <p:cNvPr id="4" name="Text 2"/>
          <p:cNvSpPr/>
          <p:nvPr/>
        </p:nvSpPr>
        <p:spPr>
          <a:xfrm>
            <a:off x="640080" y="960120"/>
            <a:ext cx="7772400" cy="137160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We built the system.</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Now we run it — fully.</a:t>
            </a:r>
            <a:endParaRPr lang="en-US" sz="3800" dirty="0"/>
          </a:p>
        </p:txBody>
      </p:sp>
      <p:sp>
        <p:nvSpPr>
          <p:cNvPr id="5" name="Shape 3"/>
          <p:cNvSpPr/>
          <p:nvPr/>
        </p:nvSpPr>
        <p:spPr>
          <a:xfrm>
            <a:off x="640080" y="2542032"/>
            <a:ext cx="411480" cy="411480"/>
          </a:xfrm>
          <a:prstGeom prst="ellipse">
            <a:avLst/>
          </a:prstGeom>
          <a:solidFill>
            <a:srgbClr val="C9A227"/>
          </a:solidFill>
          <a:ln w="12700">
            <a:solidFill>
              <a:srgbClr val="333333"/>
            </a:solidFill>
            <a:prstDash val="solid"/>
          </a:ln>
        </p:spPr>
      </p:sp>
      <p:sp>
        <p:nvSpPr>
          <p:cNvPr id="6" name="Text 4"/>
          <p:cNvSpPr/>
          <p:nvPr/>
        </p:nvSpPr>
        <p:spPr>
          <a:xfrm>
            <a:off x="640080" y="2542032"/>
            <a:ext cx="411480" cy="41148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170432" y="2542032"/>
            <a:ext cx="7132320" cy="6858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Full Adoption:  Every transaction — every receipt, delivery, payroll entry, and purchase — goes through the system. No parallel spreadsheets. No verbal approvals. The ERP is the single source of truth.</a:t>
            </a:r>
            <a:endParaRPr lang="en-US" sz="1200" dirty="0"/>
          </a:p>
        </p:txBody>
      </p:sp>
      <p:sp>
        <p:nvSpPr>
          <p:cNvPr id="8" name="Shape 6"/>
          <p:cNvSpPr/>
          <p:nvPr/>
        </p:nvSpPr>
        <p:spPr>
          <a:xfrm>
            <a:off x="640080" y="3364992"/>
            <a:ext cx="411480" cy="411480"/>
          </a:xfrm>
          <a:prstGeom prst="ellipse">
            <a:avLst/>
          </a:prstGeom>
          <a:solidFill>
            <a:srgbClr val="C9A227"/>
          </a:solidFill>
          <a:ln w="12700">
            <a:solidFill>
              <a:srgbClr val="333333"/>
            </a:solidFill>
            <a:prstDash val="solid"/>
          </a:ln>
        </p:spPr>
      </p:sp>
      <p:sp>
        <p:nvSpPr>
          <p:cNvPr id="9" name="Text 7"/>
          <p:cNvSpPr/>
          <p:nvPr/>
        </p:nvSpPr>
        <p:spPr>
          <a:xfrm>
            <a:off x="640080" y="3364992"/>
            <a:ext cx="411480" cy="41148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1170432" y="3364992"/>
            <a:ext cx="7132320" cy="6858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Train Every Staff Member:  Each role gets a structured training programme with their SOP as the textbook. No one operates the system without first being trained on it.</a:t>
            </a:r>
            <a:endParaRPr lang="en-US" sz="1200" dirty="0"/>
          </a:p>
        </p:txBody>
      </p:sp>
      <p:sp>
        <p:nvSpPr>
          <p:cNvPr id="11" name="Shape 9"/>
          <p:cNvSpPr/>
          <p:nvPr/>
        </p:nvSpPr>
        <p:spPr>
          <a:xfrm>
            <a:off x="640080" y="4187952"/>
            <a:ext cx="411480" cy="411480"/>
          </a:xfrm>
          <a:prstGeom prst="ellipse">
            <a:avLst/>
          </a:prstGeom>
          <a:solidFill>
            <a:srgbClr val="C9A227"/>
          </a:solidFill>
          <a:ln w="12700">
            <a:solidFill>
              <a:srgbClr val="333333"/>
            </a:solidFill>
            <a:prstDash val="solid"/>
          </a:ln>
        </p:spPr>
      </p:sp>
      <p:sp>
        <p:nvSpPr>
          <p:cNvPr id="12" name="Text 10"/>
          <p:cNvSpPr/>
          <p:nvPr/>
        </p:nvSpPr>
        <p:spPr>
          <a:xfrm>
            <a:off x="640080" y="4187952"/>
            <a:ext cx="411480" cy="41148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03</a:t>
            </a:r>
            <a:endParaRPr lang="en-US" sz="1300" dirty="0"/>
          </a:p>
        </p:txBody>
      </p:sp>
      <p:sp>
        <p:nvSpPr>
          <p:cNvPr id="13" name="Text 11"/>
          <p:cNvSpPr/>
          <p:nvPr/>
        </p:nvSpPr>
        <p:spPr>
          <a:xfrm>
            <a:off x="1170432" y="4187952"/>
            <a:ext cx="7132320" cy="6858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Quarterly Review:  Every three months: review the system against business needs, close gaps, update procedures. The SOP is a living document — version-controlled as Zarewa grows.</a:t>
            </a:r>
            <a:endParaRPr lang="en-US" sz="1200" dirty="0"/>
          </a:p>
        </p:txBody>
      </p:sp>
      <p:sp>
        <p:nvSpPr>
          <p:cNvPr id="14" name="Text 12"/>
          <p:cNvSpPr/>
          <p:nvPr/>
        </p:nvSpPr>
        <p:spPr>
          <a:xfrm>
            <a:off x="640080" y="4773168"/>
            <a:ext cx="7772400" cy="256032"/>
          </a:xfrm>
          <a:prstGeom prst="rect">
            <a:avLst/>
          </a:prstGeom>
          <a:noFill/>
          <a:ln/>
        </p:spPr>
        <p:txBody>
          <a:bodyPr wrap="square" lIns="0" tIns="0" rIns="0" bIns="0" rtlCol="0" anchor="ctr"/>
          <a:lstStyle/>
          <a:p>
            <a:pPr algn="l" indent="0" marL="0">
              <a:buNone/>
            </a:pPr>
            <a:r>
              <a:rPr lang="en-US" sz="1000" dirty="0">
                <a:solidFill>
                  <a:srgbClr val="8DA4C0"/>
                </a:solidFill>
                <a:latin typeface="Calibri" pitchFamily="34" charset="0"/>
                <a:ea typeface="Calibri" pitchFamily="34" charset="-122"/>
                <a:cs typeface="Calibri" pitchFamily="34" charset="-120"/>
              </a:rPr>
              <a:t>Zarewa Aluminium and Plastics Ltd  ·  June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Zarewa ERP: From Self-Employed to Business Owner</dc:title>
  <dc:subject>PptxGenJS Presentation</dc:subject>
  <dc:creator>Zarewa IT &amp; Operations</dc:creator>
  <cp:lastModifiedBy>Zarewa IT &amp; Operations</cp:lastModifiedBy>
  <cp:revision>1</cp:revision>
  <dcterms:created xsi:type="dcterms:W3CDTF">2026-06-25T13:07:26Z</dcterms:created>
  <dcterms:modified xsi:type="dcterms:W3CDTF">2026-06-25T13:07:26Z</dcterms:modified>
</cp:coreProperties>
</file>